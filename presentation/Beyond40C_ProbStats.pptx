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40 °C. India declares a heatwave using dry temperature alone. Our project asks how much dangerous humid heat that rule never sees, whether the blind spot is growing, and whether probability models can close it. Everything, from the data download to this deck's charts, is built in 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IMD's heatwave rule is purely dry-bulb: 40 °C on the plains, 37 °C on the coast, plus a 4.5 °C departure from normal. That declaration activates Heat Action Plans. But the body cools by evaporating sweat, and humidity shuts that down. A 36 °C day at 60% humidity has a wet-bulb near 29.4 °C, close to the limits measured in the lab, yet it raises no alert.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strands of literature. IMD's criteria are dry-bulb; its Heat Index is experimental guidance only. Lab physiology puts the humid limit near 30 to 31 °C wet-bulb. The CPR review found most heat action plans use national thresholds and ignore humid heat. Extreme-value theory and trend tests are standard climate statistics, but we found no day-by-day probabilistic audit of the Indian rule against humid heat.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has four parts, on the left. On the right is how our project addresses each one: a 45-year, 10-city audit; a physiological wet-bulb criterion; uncertainty quantified everywhere; a test of whether things are getting worse; and a working probabilistic warning, all in 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research questions drive the project. Each maps onto a block of the probability and statistics syllabus: interval estimation and hypothesis testing; trend tests and regression; distribution fitting and extreme-value theory; Markov chains and Monte Carlo; and logistic regression with probabilistic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methods and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command, Rscript run_all.R, runs the pipeline. It downloads 45 years of ERA5 reanalysis for 10 cities through the Open-Meteo API, builds features (harmonic-regression normals, the IMD rule, wet-bulb and heat index), runs seven analysis modules, and renders the report. The Shiny dashboard reads the same outputs.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164,360 city-days with no missing values. Seven cities are judged by the plains rule and three by the coastal rule. A danger day has a daily maximum wet-bulb of at least 29 °C; critical is 31 °C. We implement the IMD rule on one grid cell, which is more generous than IMD's two-station rule, so every miss rate is a lower bound. Recomputing wet-bulb independently with Stull's formula correlates at 0.96–0.99 with ERA5.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does the whole job. The left column was written from first principles: the GEV likelihood and its optimiser, delta-method and bootstrap intervals, Mann-Kendall, Wilson intervals, kappa, the Markov chain and its simulation. Each was cross-checked against a reference package; for example, our GEV estimates match evd::fgev to every printed digit.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one research question at a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dot is a city-day. Blue days are IMD heatwaves: hot and dry, bottom right. Orange days are dangerous humid heat: 32–39 °C at 40–70% humidity, sitting on the 29 °C wet-bulb isotherm. The two clouds barely touch. Temperature and humidity are strongly negatively correlated, so a temperature threshold automatically selects dry days.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central result. Of 730 dangerous humid-heat days, 703 were not IMD heatwave days: 96.3%, with a Wilson interval of 94.7 to 97.4%. On the right, per year: in Kolkata, Bhubaneswar, Visakhapatnam and Chennai, silent danger days outnumber official heatwave days.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it real? Cohen's kappa is essentially zero: the two definitions measure different hazards. McNemar says the disagreement is systematic. The miss rate is the same across cities and between coastal and plains rules. The heatmap shows it stays at 96–99% whatever definition we use, including each city's own 95th and 99th percentile. IMD's own experimental Heat Index was orange or red on 81% of these days.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does each hazard happen? IMD heatwaves cluster in April to June over north and central India. Humid danger peaks in May to July along the east coast and in Kolkata. The two hazards rarely share a city-week.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probability model fits? For daily wet-bulb in May, the best family by AIC varies by city, and Anderson-Darling statistics stay large because the tails misfit. That motivates extreme-value theory for the tail. Annual counts of danger days are overdispersed, with variance 2 to 9 times the mean, so the Poisson model is rejected and we use the negative binomial.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it getting worse? In a negative-binomial model with city effects, danger days grow by a factor of 1.54 per decade. The Tukey comparison puts the early-2020s 0.53 °C above the 1980s, and the blocked Friedman test confirms it. Chennai went from 0.35 to 2.85 danger days a year.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Extremes. We fit the generalised extreme value distribution to 45 annual maxima per city with our own likelihood code. Letting the location drift with time is a significant improvement in seven of ten cities. Under that model, the annual maximum that was a 1-in-50-year event in Chennai in 1985 now comes about once every 2.6 years.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Danger days come in spells. Within Kolkata's peak season, a danger day is followed by another 57% of the time, versus 5% after a calm day. Independence is rejected everywhere. The chain implies geometric spell lengths, which the data do not reject. Simulating 10,000 seasons per era, the chance of a 3-day spell in Chennai went from about 2% to about 23%.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we warn a day ahead? We trained a logistic model on 1981–2014 and tested it on the unseen years 2015–2025. Its AUC is 0.92, against 0.61 for the IMD-rule state. Its Brier skill is 17% better than climatology, and the reliability diagram stays close to the diagonal. Used as a warning, the IMD rule catches only 4% of next-day danger days.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RQ6 pushes the warning further with standard baseline machine-learning models: a decision tree and a random forest, next to the logistic model and climatology. We forecast one, two and three days ahead with the same unseen test years. Three things are new: features built from physiology, a hybrid alert that keeps the IMD rule and adds an ML layer, and a test of whether the model works in a city it was never trained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unseen years the random forest is best at every lead time: AUC 0.95 one day ahead against 0.92 for logistic regression and 0.61 for the IMD rule, and still 0.89 three days ahead. A single decision tree is the weakest model; averaging many trees removes its variance. Our physiology-informed headroom feature ranks 5 of 24.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hybrid alert keeps the IMD rule and adds the random-forest layer. It recovers 45% of the next-day danger days the IMD rule cannot see, against 1% for the rule alone. On the right, each city is held out completely: trained on the others, the forest still reaches a mean AUC of 0.93, almost the 0.94 it gets with local data. The cost is false alarms, which suits a cheap advisory such as hydrate-and-rest messaging.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explorable in a Shiny dashboard. The risk calculator shows the problem in one screen: the IMD rule says no alert, while the wet-bulb is 30.7 °C and the model gives a 99% chance of a danger day tomorrow. Other tabs show each city's barcode of missed days, its trend, and its return levels.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answer the six questions: the rule misses 96% of dangerous humid heat; danger days grow about 54% per decade; extremes are shifting in seven of ten cities; danger comes in persistent spells; a simple calibrated model warns far better than the rule; and a random forest extends the warning to three days and to cities with no history. Three recommendations follow.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ERA5's 25 km grid smooths extremes, so station data would raise every count, but the dry-versus-humid separation is structural. Our one-cell rule flatters IMD. Physiological limits come from young, healthy adults. Next steps: station data, mortality or hospital data to validate thresholds, and a district-level operational forecast.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references.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 welcome; the dashboard can be shown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4.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5.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6.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8.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9.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2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23.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1298448" y="1143000"/>
            <a:ext cx="6949440" cy="3017520"/>
          </a:xfrm>
          <a:prstGeom prst="rect">
            <a:avLst/>
          </a:prstGeom>
          <a:noFill/>
        </p:spPr>
        <p:txBody>
          <a:bodyPr wrap="square" lIns="0" rIns="0" tIns="0" bIns="0" anchor="t">
            <a:spAutoFit/>
          </a:bodyPr>
          <a:lstStyle/>
          <a:p>
            <a:pPr algn="l">
              <a:lnSpc>
                <a:spcPct val="92000"/>
              </a:lnSpc>
              <a:spcAft>
                <a:spcPts val="0"/>
              </a:spcAft>
            </a:pPr>
            <a:r>
              <a:rPr sz="10000" b="0" i="0">
                <a:solidFill>
                  <a:srgbClr val="F2F2F2"/>
                </a:solidFill>
                <a:latin typeface="Poppins Light"/>
              </a:rPr>
              <a:t>BEYOND</a:t>
            </a:r>
          </a:p>
          <a:p>
            <a:pPr algn="l">
              <a:lnSpc>
                <a:spcPct val="92000"/>
              </a:lnSpc>
              <a:spcAft>
                <a:spcPts val="0"/>
              </a:spcAft>
            </a:pPr>
            <a:r>
              <a:rPr sz="10000" b="0" i="0">
                <a:solidFill>
                  <a:srgbClr val="F2F2F2"/>
                </a:solidFill>
                <a:latin typeface="Poppins Light"/>
              </a:rPr>
              <a:t>40°C</a:t>
            </a:r>
          </a:p>
        </p:txBody>
      </p:sp>
      <p:sp>
        <p:nvSpPr>
          <p:cNvPr id="4" name="TextBox 3"/>
          <p:cNvSpPr txBox="1"/>
          <p:nvPr/>
        </p:nvSpPr>
        <p:spPr>
          <a:xfrm>
            <a:off x="1344168" y="4160520"/>
            <a:ext cx="6217920" cy="1280160"/>
          </a:xfrm>
          <a:prstGeom prst="rect">
            <a:avLst/>
          </a:prstGeom>
          <a:noFill/>
        </p:spPr>
        <p:txBody>
          <a:bodyPr wrap="square" lIns="0" rIns="0" tIns="0" bIns="0" anchor="t">
            <a:spAutoFit/>
          </a:bodyPr>
          <a:lstStyle/>
          <a:p>
            <a:pPr algn="l">
              <a:lnSpc>
                <a:spcPct val="115000"/>
              </a:lnSpc>
              <a:spcAft>
                <a:spcPts val="0"/>
              </a:spcAft>
            </a:pPr>
            <a:r>
              <a:rPr sz="2100" b="0" i="0">
                <a:solidFill>
                  <a:srgbClr val="F2F2F2"/>
                </a:solidFill>
                <a:latin typeface="Poppins Light"/>
              </a:rPr>
              <a:t>QUANTIFYING THE HUMID-HEAT BLIND SPOT</a:t>
            </a:r>
          </a:p>
          <a:p>
            <a:pPr algn="l">
              <a:lnSpc>
                <a:spcPct val="115000"/>
              </a:lnSpc>
              <a:spcAft>
                <a:spcPts val="0"/>
              </a:spcAft>
            </a:pPr>
            <a:r>
              <a:rPr sz="2100" b="0" i="0">
                <a:solidFill>
                  <a:srgbClr val="F2F2F2"/>
                </a:solidFill>
                <a:latin typeface="Poppins Light"/>
              </a:rPr>
              <a:t>IN INDIA'S HEATWAVE WARNINGS</a:t>
            </a:r>
          </a:p>
        </p:txBody>
      </p:sp>
      <p:sp>
        <p:nvSpPr>
          <p:cNvPr id="5" name="TextBox 4"/>
          <p:cNvSpPr txBox="1"/>
          <p:nvPr/>
        </p:nvSpPr>
        <p:spPr>
          <a:xfrm>
            <a:off x="6949440" y="1143000"/>
            <a:ext cx="4572000" cy="731520"/>
          </a:xfrm>
          <a:prstGeom prst="rect">
            <a:avLst/>
          </a:prstGeom>
          <a:noFill/>
        </p:spPr>
        <p:txBody>
          <a:bodyPr wrap="square" lIns="0" rIns="0" tIns="0" bIns="0" anchor="t">
            <a:spAutoFit/>
          </a:bodyPr>
          <a:lstStyle/>
          <a:p>
            <a:pPr algn="r">
              <a:lnSpc>
                <a:spcPct val="112000"/>
              </a:lnSpc>
              <a:spcAft>
                <a:spcPts val="0"/>
              </a:spcAft>
            </a:pPr>
            <a:r>
              <a:rPr sz="1500" b="0" i="0">
                <a:solidFill>
                  <a:srgbClr val="F2F2F2"/>
                </a:solidFill>
                <a:latin typeface="Poppins Light"/>
              </a:rPr>
              <a:t>ARHAANSH JHINGAN 25BCE0541 (SCOPE)</a:t>
            </a:r>
          </a:p>
        </p:txBody>
      </p:sp>
      <p:sp>
        <p:nvSpPr>
          <p:cNvPr id="6" name="TextBox 5"/>
          <p:cNvSpPr txBox="1"/>
          <p:nvPr/>
        </p:nvSpPr>
        <p:spPr>
          <a:xfrm>
            <a:off x="6949440" y="5074920"/>
            <a:ext cx="4572000" cy="731520"/>
          </a:xfrm>
          <a:prstGeom prst="rect">
            <a:avLst/>
          </a:prstGeom>
          <a:noFill/>
        </p:spPr>
        <p:txBody>
          <a:bodyPr wrap="square" lIns="0" rIns="0" tIns="0" bIns="0" anchor="t">
            <a:spAutoFit/>
          </a:bodyPr>
          <a:lstStyle/>
          <a:p>
            <a:pPr algn="r">
              <a:lnSpc>
                <a:spcPct val="125000"/>
              </a:lnSpc>
              <a:spcAft>
                <a:spcPts val="0"/>
              </a:spcAft>
            </a:pPr>
            <a:r>
              <a:rPr sz="1700" b="0" i="0">
                <a:solidFill>
                  <a:srgbClr val="F2F2F2"/>
                </a:solidFill>
                <a:latin typeface="Poppins Light"/>
              </a:rPr>
              <a:t>PROBABILITY &amp; STATISTICS LAB</a:t>
            </a:r>
          </a:p>
          <a:p>
            <a:pPr algn="r">
              <a:lnSpc>
                <a:spcPct val="125000"/>
              </a:lnSpc>
              <a:spcAft>
                <a:spcPts val="0"/>
              </a:spcAft>
            </a:pPr>
            <a:r>
              <a:rPr sz="1700" b="0" i="0">
                <a:solidFill>
                  <a:srgbClr val="F2F2F2"/>
                </a:solidFill>
                <a:latin typeface="Poppins Light"/>
              </a:rPr>
              <a:t>[BUILT END-TO-END IN 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1714500" y="1188720"/>
            <a:ext cx="8229600" cy="731520"/>
          </a:xfrm>
          <a:prstGeom prst="rect">
            <a:avLst/>
          </a:prstGeom>
          <a:noFill/>
        </p:spPr>
        <p:txBody>
          <a:bodyPr wrap="square" lIns="0" rIns="0" tIns="0" bIns="0" anchor="b">
            <a:spAutoFit/>
          </a:bodyPr>
          <a:lstStyle/>
          <a:p>
            <a:pPr algn="l">
              <a:lnSpc>
                <a:spcPct val="112000"/>
              </a:lnSpc>
              <a:spcAft>
                <a:spcPts val="0"/>
              </a:spcAft>
            </a:pPr>
            <a:r>
              <a:rPr sz="4000" b="0" i="0">
                <a:solidFill>
                  <a:srgbClr val="F2F2F2"/>
                </a:solidFill>
                <a:latin typeface="Poppins Light"/>
              </a:rPr>
              <a:t>PROBLEM STATEMENT</a:t>
            </a:r>
          </a:p>
        </p:txBody>
      </p:sp>
      <p:sp>
        <p:nvSpPr>
          <p:cNvPr id="4" name="Title dash"/>
          <p:cNvSpPr/>
          <p:nvPr/>
        </p:nvSpPr>
        <p:spPr>
          <a:xfrm>
            <a:off x="1714500" y="207568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14500" y="2377440"/>
            <a:ext cx="8412480" cy="3474720"/>
          </a:xfrm>
          <a:prstGeom prst="rect">
            <a:avLst/>
          </a:prstGeom>
          <a:noFill/>
        </p:spPr>
        <p:txBody>
          <a:bodyPr wrap="square" lIns="0" rIns="0" tIns="0" bIns="0" anchor="t">
            <a:spAutoFit/>
          </a:bodyPr>
          <a:lstStyle/>
          <a:p>
            <a:pPr algn="l">
              <a:lnSpc>
                <a:spcPct val="118000"/>
              </a:lnSpc>
              <a:spcAft>
                <a:spcPts val="1200"/>
              </a:spcAft>
            </a:pPr>
            <a:r>
              <a:rPr sz="1900" b="0" i="0">
                <a:solidFill>
                  <a:srgbClr val="F2F2F2"/>
                </a:solidFill>
                <a:latin typeface="Poppins Light"/>
              </a:rPr>
              <a:t>India declares a heatwave only when the dry-bulb temperature crosses a fixed line: 40 °C on the plains or 37 °C on the coast, plus a 4.5 °C departure from normal. That declaration is what switches on city and state Heat Action Plans.</a:t>
            </a:r>
          </a:p>
          <a:p>
            <a:pPr algn="l">
              <a:lnSpc>
                <a:spcPct val="118000"/>
              </a:lnSpc>
              <a:spcAft>
                <a:spcPts val="1200"/>
              </a:spcAft>
            </a:pPr>
            <a:r>
              <a:rPr sz="1900" b="0" i="0">
                <a:solidFill>
                  <a:srgbClr val="F2F2F2"/>
                </a:solidFill>
                <a:latin typeface="Poppins Light"/>
              </a:rPr>
              <a:t>But the body cools itself by evaporating sweat, and humid air shuts that down. A 36 °C day at 60% humidity has a wet-bulb temperature of about 29.4 °C, close to the limit at which healthy young adults can no longer stabilise their core temperature. Yet it never triggers an alert.</a:t>
            </a:r>
          </a:p>
          <a:p>
            <a:pPr algn="l">
              <a:lnSpc>
                <a:spcPct val="118000"/>
              </a:lnSpc>
              <a:spcAft>
                <a:spcPts val="1200"/>
              </a:spcAft>
            </a:pPr>
            <a:r>
              <a:rPr sz="1900" b="0" i="0">
                <a:solidFill>
                  <a:srgbClr val="F2F2F2"/>
                </a:solidFill>
                <a:latin typeface="Poppins Light"/>
              </a:rPr>
              <a:t>A dependable, probabilistic way to detect and forecast this humid heat is needed.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1714500" y="914400"/>
            <a:ext cx="8229600" cy="731520"/>
          </a:xfrm>
          <a:prstGeom prst="rect">
            <a:avLst/>
          </a:prstGeom>
          <a:noFill/>
        </p:spPr>
        <p:txBody>
          <a:bodyPr wrap="square" lIns="0" rIns="0" tIns="0" bIns="0" anchor="b">
            <a:spAutoFit/>
          </a:bodyPr>
          <a:lstStyle/>
          <a:p>
            <a:pPr algn="l">
              <a:lnSpc>
                <a:spcPct val="112000"/>
              </a:lnSpc>
              <a:spcAft>
                <a:spcPts val="0"/>
              </a:spcAft>
            </a:pPr>
            <a:r>
              <a:rPr sz="4000" b="0" i="0">
                <a:solidFill>
                  <a:srgbClr val="F2F2F2"/>
                </a:solidFill>
                <a:latin typeface="Poppins Light"/>
              </a:rPr>
              <a:t>LITERATURE REVIEW</a:t>
            </a:r>
          </a:p>
        </p:txBody>
      </p:sp>
      <p:sp>
        <p:nvSpPr>
          <p:cNvPr id="4" name="Title dash"/>
          <p:cNvSpPr/>
          <p:nvPr/>
        </p:nvSpPr>
        <p:spPr>
          <a:xfrm>
            <a:off x="1714500" y="18013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14500" y="2057400"/>
            <a:ext cx="8961120" cy="4480560"/>
          </a:xfrm>
          <a:prstGeom prst="rect">
            <a:avLst/>
          </a:prstGeom>
          <a:noFill/>
        </p:spPr>
        <p:txBody>
          <a:bodyPr wrap="square" lIns="0" rIns="0" tIns="0" bIns="0" anchor="t">
            <a:spAutoFit/>
          </a:bodyPr>
          <a:lstStyle/>
          <a:p>
            <a:pPr algn="l">
              <a:lnSpc>
                <a:spcPct val="112000"/>
              </a:lnSpc>
              <a:spcAft>
                <a:spcPts val="900"/>
              </a:spcAft>
            </a:pPr>
            <a:r>
              <a:rPr sz="1450" b="0" i="0">
                <a:solidFill>
                  <a:srgbClr val="F2F2F2"/>
                </a:solidFill>
                <a:latin typeface="Poppins"/>
              </a:rPr>
              <a:t>Official criteria. </a:t>
            </a:r>
            <a:r>
              <a:rPr sz="1450" b="0" i="0">
                <a:solidFill>
                  <a:srgbClr val="F2F2F2"/>
                </a:solidFill>
                <a:latin typeface="Poppins Light"/>
              </a:rPr>
              <a:t>IMD declares a heatwave when a station reaches 40 °C (plains), 37 °C (coast) or 30 °C (hills) with a departure of at least 4.5 °C from normal, on two stations for two consecutive days. IMD's experimental Heat Index (NOAA equation; green &lt; 35, yellow 36–45, orange 46–55, red &gt; 55 °C) is guidance only and is not part of the declaration.</a:t>
            </a:r>
          </a:p>
          <a:p>
            <a:pPr algn="l">
              <a:lnSpc>
                <a:spcPct val="112000"/>
              </a:lnSpc>
              <a:spcAft>
                <a:spcPts val="900"/>
              </a:spcAft>
            </a:pPr>
            <a:r>
              <a:rPr sz="1450" b="0" i="0">
                <a:solidFill>
                  <a:srgbClr val="F2F2F2"/>
                </a:solidFill>
                <a:latin typeface="Poppins"/>
              </a:rPr>
              <a:t>Physiology. </a:t>
            </a:r>
            <a:r>
              <a:rPr sz="1450" b="0" i="0">
                <a:solidFill>
                  <a:srgbClr val="F2F2F2"/>
                </a:solidFill>
                <a:latin typeface="Poppins Light"/>
              </a:rPr>
              <a:t>Vecellio et al. (2022, J. Appl. Physiol.) measured critical wet-bulb limits of about 30–31 °C for young, healthy adults in warm-humid air, well below the theoretical 35 °C. Raymond et al. (2020, Science Advances) report that extreme humid heat has more than doubled in frequency since 1979.</a:t>
            </a:r>
          </a:p>
          <a:p>
            <a:pPr algn="l">
              <a:lnSpc>
                <a:spcPct val="112000"/>
              </a:lnSpc>
              <a:spcAft>
                <a:spcPts val="900"/>
              </a:spcAft>
            </a:pPr>
            <a:r>
              <a:rPr sz="1450" b="0" i="0">
                <a:solidFill>
                  <a:srgbClr val="F2F2F2"/>
                </a:solidFill>
                <a:latin typeface="Poppins"/>
              </a:rPr>
              <a:t>Policy. </a:t>
            </a:r>
            <a:r>
              <a:rPr sz="1450" b="0" i="0">
                <a:solidFill>
                  <a:srgbClr val="F2F2F2"/>
                </a:solidFill>
                <a:latin typeface="Poppins Light"/>
              </a:rPr>
              <a:t>A Centre for Policy Research review (2023) of 37 Heat Action Plans across 18 states found that only 10 set local thresholds. Plans focus on dry heat and largely ignore humid heat and warm nights.</a:t>
            </a:r>
          </a:p>
          <a:p>
            <a:pPr algn="l">
              <a:lnSpc>
                <a:spcPct val="112000"/>
              </a:lnSpc>
              <a:spcAft>
                <a:spcPts val="900"/>
              </a:spcAft>
            </a:pPr>
            <a:r>
              <a:rPr sz="1450" b="0" i="0">
                <a:solidFill>
                  <a:srgbClr val="F2F2F2"/>
                </a:solidFill>
                <a:latin typeface="Poppins"/>
              </a:rPr>
              <a:t>Statistics. </a:t>
            </a:r>
            <a:r>
              <a:rPr sz="1450" b="0" i="0">
                <a:solidFill>
                  <a:srgbClr val="F2F2F2"/>
                </a:solidFill>
                <a:latin typeface="Poppins Light"/>
              </a:rPr>
              <a:t>Extreme-value theory (Coles, 2001), Mann–Kendall/Sen trend tests and probabilistic verification (Brier, ROC) are standard climate tools. To our knowledge, they have not been combined into a day-by-day audit of the Indian rule against a physiological humid-heat criterion.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c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548640" y="411480"/>
            <a:ext cx="10972800" cy="1005840"/>
          </a:xfrm>
          <a:prstGeom prst="rect">
            <a:avLst/>
          </a:prstGeom>
          <a:noFill/>
        </p:spPr>
        <p:txBody>
          <a:bodyPr wrap="square" lIns="0" rIns="0" tIns="0" bIns="0" anchor="t">
            <a:spAutoFit/>
          </a:bodyPr>
          <a:lstStyle/>
          <a:p>
            <a:pPr algn="l">
              <a:lnSpc>
                <a:spcPct val="112000"/>
              </a:lnSpc>
              <a:spcAft>
                <a:spcPts val="0"/>
              </a:spcAft>
            </a:pPr>
            <a:r>
              <a:rPr sz="6000" b="0" i="0">
                <a:solidFill>
                  <a:srgbClr val="F2F2F2"/>
                </a:solidFill>
                <a:latin typeface="Poppins"/>
              </a:rPr>
              <a:t>The Gap</a:t>
            </a:r>
          </a:p>
        </p:txBody>
      </p:sp>
      <p:sp>
        <p:nvSpPr>
          <p:cNvPr id="4" name="Rectangle 3"/>
          <p:cNvSpPr/>
          <p:nvPr/>
        </p:nvSpPr>
        <p:spPr>
          <a:xfrm>
            <a:off x="502920" y="1783080"/>
            <a:ext cx="2331720" cy="1874519"/>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F2F2F2"/>
                </a:solidFill>
                <a:latin typeface="Poppins Light"/>
              </a:rPr>
              <a:t>Dry-bulb only trigger: 40 °C plains, 37 °C coast</a:t>
            </a:r>
          </a:p>
        </p:txBody>
      </p:sp>
      <p:sp>
        <p:nvSpPr>
          <p:cNvPr id="5" name="Rectangle 4"/>
          <p:cNvSpPr/>
          <p:nvPr/>
        </p:nvSpPr>
        <p:spPr>
          <a:xfrm>
            <a:off x="3017520" y="1783080"/>
            <a:ext cx="2331720" cy="1874519"/>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F2F2F2"/>
                </a:solidFill>
                <a:latin typeface="Poppins Light"/>
              </a:rPr>
              <a:t>Humid heat and warm nights ignored by most plans</a:t>
            </a:r>
          </a:p>
        </p:txBody>
      </p:sp>
      <p:sp>
        <p:nvSpPr>
          <p:cNvPr id="6" name="Rectangle 5"/>
          <p:cNvSpPr/>
          <p:nvPr/>
        </p:nvSpPr>
        <p:spPr>
          <a:xfrm>
            <a:off x="502920" y="3886200"/>
            <a:ext cx="2331720" cy="1874519"/>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F2F2F2"/>
                </a:solidFill>
                <a:latin typeface="Poppins Light"/>
              </a:rPr>
              <a:t>Only 10 of 37 Heat Action Plans use local thresholds</a:t>
            </a:r>
          </a:p>
        </p:txBody>
      </p:sp>
      <p:sp>
        <p:nvSpPr>
          <p:cNvPr id="7" name="Rectangle 6"/>
          <p:cNvSpPr/>
          <p:nvPr/>
        </p:nvSpPr>
        <p:spPr>
          <a:xfrm>
            <a:off x="3017520" y="3886200"/>
            <a:ext cx="2331720" cy="1874519"/>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F2F2F2"/>
                </a:solidFill>
                <a:latin typeface="Poppins Light"/>
              </a:rPr>
              <a:t>No probabilities, return periods or uncertainty</a:t>
            </a:r>
          </a:p>
        </p:txBody>
      </p:sp>
      <p:sp>
        <p:nvSpPr>
          <p:cNvPr id="8" name="TextBox 7"/>
          <p:cNvSpPr txBox="1"/>
          <p:nvPr/>
        </p:nvSpPr>
        <p:spPr>
          <a:xfrm>
            <a:off x="5760720" y="1783080"/>
            <a:ext cx="6035040" cy="548640"/>
          </a:xfrm>
          <a:prstGeom prst="rect">
            <a:avLst/>
          </a:prstGeom>
          <a:noFill/>
        </p:spPr>
        <p:txBody>
          <a:bodyPr wrap="square" lIns="0" rIns="0" tIns="0" bIns="0" anchor="t">
            <a:spAutoFit/>
          </a:bodyPr>
          <a:lstStyle/>
          <a:p>
            <a:pPr algn="l">
              <a:lnSpc>
                <a:spcPct val="112000"/>
              </a:lnSpc>
              <a:spcAft>
                <a:spcPts val="0"/>
              </a:spcAft>
            </a:pPr>
            <a:r>
              <a:rPr sz="2200" b="0" i="0">
                <a:solidFill>
                  <a:srgbClr val="F2F2F2"/>
                </a:solidFill>
                <a:latin typeface="Poppins Light"/>
              </a:rPr>
              <a:t>How does our project close it?</a:t>
            </a:r>
          </a:p>
        </p:txBody>
      </p:sp>
      <p:cxnSp>
        <p:nvCxnSpPr>
          <p:cNvPr id="9" name="Arrow bullet"/>
          <p:cNvCxnSpPr/>
          <p:nvPr/>
        </p:nvCxnSpPr>
        <p:spPr>
          <a:xfrm flipV="1">
            <a:off x="5760720" y="2639948"/>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108192" y="2560320"/>
            <a:ext cx="5824728" cy="621792"/>
          </a:xfrm>
          <a:prstGeom prst="rect">
            <a:avLst/>
          </a:prstGeom>
          <a:noFill/>
        </p:spPr>
        <p:txBody>
          <a:bodyPr wrap="square" lIns="0" rIns="0" tIns="0" bIns="0" anchor="t">
            <a:spAutoFit/>
          </a:bodyPr>
          <a:lstStyle/>
          <a:p>
            <a:pPr algn="l">
              <a:lnSpc>
                <a:spcPct val="105000"/>
              </a:lnSpc>
              <a:spcAft>
                <a:spcPts val="0"/>
              </a:spcAft>
            </a:pPr>
            <a:r>
              <a:rPr sz="1650" b="0" i="0">
                <a:solidFill>
                  <a:srgbClr val="F2F2F2"/>
                </a:solidFill>
                <a:latin typeface="Poppins Light"/>
              </a:rPr>
              <a:t>Audits the official rule day by day, 10 cities × 45 years</a:t>
            </a:r>
          </a:p>
        </p:txBody>
      </p:sp>
      <p:cxnSp>
        <p:nvCxnSpPr>
          <p:cNvPr id="11" name="Arrow bullet"/>
          <p:cNvCxnSpPr/>
          <p:nvPr/>
        </p:nvCxnSpPr>
        <p:spPr>
          <a:xfrm flipV="1">
            <a:off x="5760720" y="3261741"/>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08192" y="3182112"/>
            <a:ext cx="5824728" cy="621792"/>
          </a:xfrm>
          <a:prstGeom prst="rect">
            <a:avLst/>
          </a:prstGeom>
          <a:noFill/>
        </p:spPr>
        <p:txBody>
          <a:bodyPr wrap="square" lIns="0" rIns="0" tIns="0" bIns="0" anchor="t">
            <a:spAutoFit/>
          </a:bodyPr>
          <a:lstStyle/>
          <a:p>
            <a:pPr algn="l">
              <a:lnSpc>
                <a:spcPct val="105000"/>
              </a:lnSpc>
              <a:spcAft>
                <a:spcPts val="0"/>
              </a:spcAft>
            </a:pPr>
            <a:r>
              <a:rPr sz="1650" b="0" i="0">
                <a:solidFill>
                  <a:srgbClr val="F2F2F2"/>
                </a:solidFill>
                <a:latin typeface="Poppins Light"/>
              </a:rPr>
              <a:t>Judges danger by physiology (wet-bulb), not dry-bulb</a:t>
            </a:r>
          </a:p>
        </p:txBody>
      </p:sp>
      <p:cxnSp>
        <p:nvCxnSpPr>
          <p:cNvPr id="13" name="Arrow bullet"/>
          <p:cNvCxnSpPr/>
          <p:nvPr/>
        </p:nvCxnSpPr>
        <p:spPr>
          <a:xfrm flipV="1">
            <a:off x="5760720" y="3883533"/>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108192" y="3803904"/>
            <a:ext cx="5824728" cy="621792"/>
          </a:xfrm>
          <a:prstGeom prst="rect">
            <a:avLst/>
          </a:prstGeom>
          <a:noFill/>
        </p:spPr>
        <p:txBody>
          <a:bodyPr wrap="square" lIns="0" rIns="0" tIns="0" bIns="0" anchor="t">
            <a:spAutoFit/>
          </a:bodyPr>
          <a:lstStyle/>
          <a:p>
            <a:pPr algn="l">
              <a:lnSpc>
                <a:spcPct val="105000"/>
              </a:lnSpc>
              <a:spcAft>
                <a:spcPts val="0"/>
              </a:spcAft>
            </a:pPr>
            <a:r>
              <a:rPr sz="1650" b="0" i="0">
                <a:solidFill>
                  <a:srgbClr val="F2F2F2"/>
                </a:solidFill>
                <a:latin typeface="Poppins Light"/>
              </a:rPr>
              <a:t>Quantifies uncertainty: CIs, posteriors, bootstrap</a:t>
            </a:r>
          </a:p>
        </p:txBody>
      </p:sp>
      <p:cxnSp>
        <p:nvCxnSpPr>
          <p:cNvPr id="15" name="Arrow bullet"/>
          <p:cNvCxnSpPr/>
          <p:nvPr/>
        </p:nvCxnSpPr>
        <p:spPr>
          <a:xfrm flipV="1">
            <a:off x="5760720" y="4505325"/>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08192" y="4425696"/>
            <a:ext cx="5824728" cy="621792"/>
          </a:xfrm>
          <a:prstGeom prst="rect">
            <a:avLst/>
          </a:prstGeom>
          <a:noFill/>
        </p:spPr>
        <p:txBody>
          <a:bodyPr wrap="square" lIns="0" rIns="0" tIns="0" bIns="0" anchor="t">
            <a:spAutoFit/>
          </a:bodyPr>
          <a:lstStyle/>
          <a:p>
            <a:pPr algn="l">
              <a:lnSpc>
                <a:spcPct val="105000"/>
              </a:lnSpc>
              <a:spcAft>
                <a:spcPts val="0"/>
              </a:spcAft>
            </a:pPr>
            <a:r>
              <a:rPr sz="1650" b="0" i="0">
                <a:solidFill>
                  <a:srgbClr val="F2F2F2"/>
                </a:solidFill>
                <a:latin typeface="Poppins Light"/>
              </a:rPr>
              <a:t>Tests whether the blind spot is growing (trends, EVT)</a:t>
            </a:r>
          </a:p>
        </p:txBody>
      </p:sp>
      <p:cxnSp>
        <p:nvCxnSpPr>
          <p:cNvPr id="17" name="Arrow bullet"/>
          <p:cNvCxnSpPr/>
          <p:nvPr/>
        </p:nvCxnSpPr>
        <p:spPr>
          <a:xfrm flipV="1">
            <a:off x="5760720" y="5127116"/>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108192" y="5047488"/>
            <a:ext cx="5824728" cy="621792"/>
          </a:xfrm>
          <a:prstGeom prst="rect">
            <a:avLst/>
          </a:prstGeom>
          <a:noFill/>
        </p:spPr>
        <p:txBody>
          <a:bodyPr wrap="square" lIns="0" rIns="0" tIns="0" bIns="0" anchor="t">
            <a:spAutoFit/>
          </a:bodyPr>
          <a:lstStyle/>
          <a:p>
            <a:pPr algn="l">
              <a:lnSpc>
                <a:spcPct val="105000"/>
              </a:lnSpc>
              <a:spcAft>
                <a:spcPts val="0"/>
              </a:spcAft>
            </a:pPr>
            <a:r>
              <a:rPr sz="1650" b="0" i="0">
                <a:solidFill>
                  <a:srgbClr val="F2F2F2"/>
                </a:solidFill>
                <a:latin typeface="Poppins Light"/>
              </a:rPr>
              <a:t>Ships a calibrated next-day warning + dashboard, in 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d.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OUR PROJECT</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0"/>
            <a:ext cx="1005840" cy="548640"/>
          </a:xfrm>
          <a:prstGeom prst="rect">
            <a:avLst/>
          </a:prstGeom>
          <a:noFill/>
        </p:spPr>
        <p:txBody>
          <a:bodyPr wrap="square" lIns="0" rIns="0" tIns="0" bIns="0" anchor="t">
            <a:spAutoFit/>
          </a:bodyPr>
          <a:lstStyle/>
          <a:p>
            <a:pPr algn="l">
              <a:lnSpc>
                <a:spcPct val="112000"/>
              </a:lnSpc>
              <a:spcAft>
                <a:spcPts val="0"/>
              </a:spcAft>
            </a:pPr>
            <a:r>
              <a:rPr sz="2600" b="0" i="0">
                <a:solidFill>
                  <a:srgbClr val="E08A3C"/>
                </a:solidFill>
                <a:latin typeface="Poppins Light"/>
              </a:rPr>
              <a:t>RQ1</a:t>
            </a:r>
          </a:p>
        </p:txBody>
      </p:sp>
      <p:sp>
        <p:nvSpPr>
          <p:cNvPr id="6" name="TextBox 5"/>
          <p:cNvSpPr txBox="1"/>
          <p:nvPr/>
        </p:nvSpPr>
        <p:spPr>
          <a:xfrm>
            <a:off x="1874519" y="1627632"/>
            <a:ext cx="9418320" cy="41148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What share of dangerous humid-heat days does the IMD rule miss?</a:t>
            </a:r>
          </a:p>
        </p:txBody>
      </p:sp>
      <p:sp>
        <p:nvSpPr>
          <p:cNvPr id="7" name="TextBox 6"/>
          <p:cNvSpPr txBox="1"/>
          <p:nvPr/>
        </p:nvSpPr>
        <p:spPr>
          <a:xfrm>
            <a:off x="1874519" y="2057400"/>
            <a:ext cx="94183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A8A8A8"/>
                </a:solidFill>
                <a:latin typeface="Poppins Light"/>
              </a:rPr>
              <a:t>Interval estimation · χ², McNemar, κ · Bayesian posterior</a:t>
            </a:r>
          </a:p>
        </p:txBody>
      </p:sp>
      <p:sp>
        <p:nvSpPr>
          <p:cNvPr id="8" name="TextBox 7"/>
          <p:cNvSpPr txBox="1"/>
          <p:nvPr/>
        </p:nvSpPr>
        <p:spPr>
          <a:xfrm>
            <a:off x="777240" y="2450592"/>
            <a:ext cx="1005840" cy="548640"/>
          </a:xfrm>
          <a:prstGeom prst="rect">
            <a:avLst/>
          </a:prstGeom>
          <a:noFill/>
        </p:spPr>
        <p:txBody>
          <a:bodyPr wrap="square" lIns="0" rIns="0" tIns="0" bIns="0" anchor="t">
            <a:spAutoFit/>
          </a:bodyPr>
          <a:lstStyle/>
          <a:p>
            <a:pPr algn="l">
              <a:lnSpc>
                <a:spcPct val="112000"/>
              </a:lnSpc>
              <a:spcAft>
                <a:spcPts val="0"/>
              </a:spcAft>
            </a:pPr>
            <a:r>
              <a:rPr sz="2600" b="0" i="0">
                <a:solidFill>
                  <a:srgbClr val="E08A3C"/>
                </a:solidFill>
                <a:latin typeface="Poppins Light"/>
              </a:rPr>
              <a:t>RQ2</a:t>
            </a:r>
          </a:p>
        </p:txBody>
      </p:sp>
      <p:sp>
        <p:nvSpPr>
          <p:cNvPr id="9" name="TextBox 8"/>
          <p:cNvSpPr txBox="1"/>
          <p:nvPr/>
        </p:nvSpPr>
        <p:spPr>
          <a:xfrm>
            <a:off x="1874519" y="2432304"/>
            <a:ext cx="9418320" cy="41148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Are danger days becoming more frequent?</a:t>
            </a:r>
          </a:p>
        </p:txBody>
      </p:sp>
      <p:sp>
        <p:nvSpPr>
          <p:cNvPr id="10" name="TextBox 9"/>
          <p:cNvSpPr txBox="1"/>
          <p:nvPr/>
        </p:nvSpPr>
        <p:spPr>
          <a:xfrm>
            <a:off x="1874519" y="2862072"/>
            <a:ext cx="94183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A8A8A8"/>
                </a:solidFill>
                <a:latin typeface="Poppins Light"/>
              </a:rPr>
              <a:t>Mann–Kendall · negative-binomial GLM · ANOVA · permutation</a:t>
            </a:r>
          </a:p>
        </p:txBody>
      </p:sp>
      <p:sp>
        <p:nvSpPr>
          <p:cNvPr id="11" name="TextBox 10"/>
          <p:cNvSpPr txBox="1"/>
          <p:nvPr/>
        </p:nvSpPr>
        <p:spPr>
          <a:xfrm>
            <a:off x="777240" y="3255264"/>
            <a:ext cx="1005840" cy="548640"/>
          </a:xfrm>
          <a:prstGeom prst="rect">
            <a:avLst/>
          </a:prstGeom>
          <a:noFill/>
        </p:spPr>
        <p:txBody>
          <a:bodyPr wrap="square" lIns="0" rIns="0" tIns="0" bIns="0" anchor="t">
            <a:spAutoFit/>
          </a:bodyPr>
          <a:lstStyle/>
          <a:p>
            <a:pPr algn="l">
              <a:lnSpc>
                <a:spcPct val="112000"/>
              </a:lnSpc>
              <a:spcAft>
                <a:spcPts val="0"/>
              </a:spcAft>
            </a:pPr>
            <a:r>
              <a:rPr sz="2600" b="0" i="0">
                <a:solidFill>
                  <a:srgbClr val="E08A3C"/>
                </a:solidFill>
                <a:latin typeface="Poppins Light"/>
              </a:rPr>
              <a:t>RQ3</a:t>
            </a:r>
          </a:p>
        </p:txBody>
      </p:sp>
      <p:sp>
        <p:nvSpPr>
          <p:cNvPr id="12" name="TextBox 11"/>
          <p:cNvSpPr txBox="1"/>
          <p:nvPr/>
        </p:nvSpPr>
        <p:spPr>
          <a:xfrm>
            <a:off x="1874519" y="3236976"/>
            <a:ext cx="9418320" cy="41148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How extreme can humid heat get, and is the tail moving?</a:t>
            </a:r>
          </a:p>
        </p:txBody>
      </p:sp>
      <p:sp>
        <p:nvSpPr>
          <p:cNvPr id="13" name="TextBox 12"/>
          <p:cNvSpPr txBox="1"/>
          <p:nvPr/>
        </p:nvSpPr>
        <p:spPr>
          <a:xfrm>
            <a:off x="1874519" y="3666744"/>
            <a:ext cx="94183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A8A8A8"/>
                </a:solidFill>
                <a:latin typeface="Poppins Light"/>
              </a:rPr>
              <a:t>GEV maximum likelihood · return levels · likelihood-ratio test</a:t>
            </a:r>
          </a:p>
        </p:txBody>
      </p:sp>
      <p:sp>
        <p:nvSpPr>
          <p:cNvPr id="14" name="TextBox 13"/>
          <p:cNvSpPr txBox="1"/>
          <p:nvPr/>
        </p:nvSpPr>
        <p:spPr>
          <a:xfrm>
            <a:off x="777240" y="4059936"/>
            <a:ext cx="1005840" cy="548640"/>
          </a:xfrm>
          <a:prstGeom prst="rect">
            <a:avLst/>
          </a:prstGeom>
          <a:noFill/>
        </p:spPr>
        <p:txBody>
          <a:bodyPr wrap="square" lIns="0" rIns="0" tIns="0" bIns="0" anchor="t">
            <a:spAutoFit/>
          </a:bodyPr>
          <a:lstStyle/>
          <a:p>
            <a:pPr algn="l">
              <a:lnSpc>
                <a:spcPct val="112000"/>
              </a:lnSpc>
              <a:spcAft>
                <a:spcPts val="0"/>
              </a:spcAft>
            </a:pPr>
            <a:r>
              <a:rPr sz="2600" b="0" i="0">
                <a:solidFill>
                  <a:srgbClr val="E08A3C"/>
                </a:solidFill>
                <a:latin typeface="Poppins Light"/>
              </a:rPr>
              <a:t>RQ4</a:t>
            </a:r>
          </a:p>
        </p:txBody>
      </p:sp>
      <p:sp>
        <p:nvSpPr>
          <p:cNvPr id="15" name="TextBox 14"/>
          <p:cNvSpPr txBox="1"/>
          <p:nvPr/>
        </p:nvSpPr>
        <p:spPr>
          <a:xfrm>
            <a:off x="1874519" y="4041648"/>
            <a:ext cx="9418320" cy="41148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Do dangerous days cluster into spells?</a:t>
            </a:r>
          </a:p>
        </p:txBody>
      </p:sp>
      <p:sp>
        <p:nvSpPr>
          <p:cNvPr id="16" name="TextBox 15"/>
          <p:cNvSpPr txBox="1"/>
          <p:nvPr/>
        </p:nvSpPr>
        <p:spPr>
          <a:xfrm>
            <a:off x="1874519" y="4471416"/>
            <a:ext cx="94183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A8A8A8"/>
                </a:solidFill>
                <a:latin typeface="Poppins Light"/>
              </a:rPr>
              <a:t>Two-state Markov chain · geometric law · Monte Carlo</a:t>
            </a:r>
          </a:p>
        </p:txBody>
      </p:sp>
      <p:sp>
        <p:nvSpPr>
          <p:cNvPr id="17" name="TextBox 16"/>
          <p:cNvSpPr txBox="1"/>
          <p:nvPr/>
        </p:nvSpPr>
        <p:spPr>
          <a:xfrm>
            <a:off x="777240" y="4864608"/>
            <a:ext cx="1005840" cy="548640"/>
          </a:xfrm>
          <a:prstGeom prst="rect">
            <a:avLst/>
          </a:prstGeom>
          <a:noFill/>
        </p:spPr>
        <p:txBody>
          <a:bodyPr wrap="square" lIns="0" rIns="0" tIns="0" bIns="0" anchor="t">
            <a:spAutoFit/>
          </a:bodyPr>
          <a:lstStyle/>
          <a:p>
            <a:pPr algn="l">
              <a:lnSpc>
                <a:spcPct val="112000"/>
              </a:lnSpc>
              <a:spcAft>
                <a:spcPts val="0"/>
              </a:spcAft>
            </a:pPr>
            <a:r>
              <a:rPr sz="2600" b="0" i="0">
                <a:solidFill>
                  <a:srgbClr val="E08A3C"/>
                </a:solidFill>
                <a:latin typeface="Poppins Light"/>
              </a:rPr>
              <a:t>RQ5</a:t>
            </a:r>
          </a:p>
        </p:txBody>
      </p:sp>
      <p:sp>
        <p:nvSpPr>
          <p:cNvPr id="18" name="TextBox 17"/>
          <p:cNvSpPr txBox="1"/>
          <p:nvPr/>
        </p:nvSpPr>
        <p:spPr>
          <a:xfrm>
            <a:off x="1874519" y="4846320"/>
            <a:ext cx="9418320" cy="41148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Can we warn a day ahead with honest probabilities?</a:t>
            </a:r>
          </a:p>
        </p:txBody>
      </p:sp>
      <p:sp>
        <p:nvSpPr>
          <p:cNvPr id="19" name="TextBox 18"/>
          <p:cNvSpPr txBox="1"/>
          <p:nvPr/>
        </p:nvSpPr>
        <p:spPr>
          <a:xfrm>
            <a:off x="1874519" y="5276088"/>
            <a:ext cx="94183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A8A8A8"/>
                </a:solidFill>
                <a:latin typeface="Poppins Light"/>
              </a:rPr>
              <a:t>Logistic regression · Brier skill · ROC/AUC · reliability</a:t>
            </a:r>
          </a:p>
        </p:txBody>
      </p:sp>
      <p:sp>
        <p:nvSpPr>
          <p:cNvPr id="20" name="TextBox 19"/>
          <p:cNvSpPr txBox="1"/>
          <p:nvPr/>
        </p:nvSpPr>
        <p:spPr>
          <a:xfrm>
            <a:off x="777240" y="5669280"/>
            <a:ext cx="1005840" cy="548640"/>
          </a:xfrm>
          <a:prstGeom prst="rect">
            <a:avLst/>
          </a:prstGeom>
          <a:noFill/>
        </p:spPr>
        <p:txBody>
          <a:bodyPr wrap="square" lIns="0" rIns="0" tIns="0" bIns="0" anchor="t">
            <a:spAutoFit/>
          </a:bodyPr>
          <a:lstStyle/>
          <a:p>
            <a:pPr algn="l">
              <a:lnSpc>
                <a:spcPct val="112000"/>
              </a:lnSpc>
              <a:spcAft>
                <a:spcPts val="0"/>
              </a:spcAft>
            </a:pPr>
            <a:r>
              <a:rPr sz="2600" b="0" i="0">
                <a:solidFill>
                  <a:srgbClr val="E08A3C"/>
                </a:solidFill>
                <a:latin typeface="Poppins Light"/>
              </a:rPr>
              <a:t>RQ6</a:t>
            </a:r>
          </a:p>
        </p:txBody>
      </p:sp>
      <p:sp>
        <p:nvSpPr>
          <p:cNvPr id="21" name="TextBox 20"/>
          <p:cNvSpPr txBox="1"/>
          <p:nvPr/>
        </p:nvSpPr>
        <p:spPr>
          <a:xfrm>
            <a:off x="1874519" y="5650992"/>
            <a:ext cx="9418320" cy="41148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Can baseline ML warn 1–3 days ahead, even in a city it never saw?</a:t>
            </a:r>
          </a:p>
        </p:txBody>
      </p:sp>
      <p:sp>
        <p:nvSpPr>
          <p:cNvPr id="22" name="TextBox 21"/>
          <p:cNvSpPr txBox="1"/>
          <p:nvPr/>
        </p:nvSpPr>
        <p:spPr>
          <a:xfrm>
            <a:off x="1874519" y="6080760"/>
            <a:ext cx="9418320" cy="365760"/>
          </a:xfrm>
          <a:prstGeom prst="rect">
            <a:avLst/>
          </a:prstGeom>
          <a:noFill/>
        </p:spPr>
        <p:txBody>
          <a:bodyPr wrap="square" lIns="0" rIns="0" tIns="0" bIns="0" anchor="t">
            <a:spAutoFit/>
          </a:bodyPr>
          <a:lstStyle/>
          <a:p>
            <a:pPr algn="l">
              <a:lnSpc>
                <a:spcPct val="112000"/>
              </a:lnSpc>
              <a:spcAft>
                <a:spcPts val="0"/>
              </a:spcAft>
            </a:pPr>
            <a:r>
              <a:rPr sz="1350" b="0" i="0">
                <a:solidFill>
                  <a:srgbClr val="A8A8A8"/>
                </a:solidFill>
                <a:latin typeface="Poppins Light"/>
              </a:rPr>
              <a:t>Decision tree · random forest · hybrid IMD + ML alert · leave-one-city-out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2286000" y="2331720"/>
            <a:ext cx="7616952" cy="2194560"/>
          </a:xfrm>
          <a:prstGeom prst="rect">
            <a:avLst/>
          </a:prstGeom>
          <a:noFill/>
        </p:spPr>
        <p:txBody>
          <a:bodyPr wrap="square" lIns="0" rIns="0" tIns="0" bIns="0" anchor="ctr">
            <a:spAutoFit/>
          </a:bodyPr>
          <a:lstStyle/>
          <a:p>
            <a:pPr algn="ctr">
              <a:lnSpc>
                <a:spcPct val="115000"/>
              </a:lnSpc>
              <a:spcAft>
                <a:spcPts val="0"/>
              </a:spcAft>
            </a:pPr>
            <a:r>
              <a:rPr sz="3400" b="0" i="0">
                <a:solidFill>
                  <a:srgbClr val="F2F2F2"/>
                </a:solidFill>
                <a:latin typeface="Poppins Light"/>
              </a:rPr>
              <a:t>DATA, METHODS</a:t>
            </a:r>
          </a:p>
          <a:p>
            <a:pPr algn="ctr">
              <a:lnSpc>
                <a:spcPct val="115000"/>
              </a:lnSpc>
              <a:spcAft>
                <a:spcPts val="0"/>
              </a:spcAft>
            </a:pPr>
            <a:r>
              <a:rPr sz="3400" b="0" i="0">
                <a:solidFill>
                  <a:srgbClr val="F2F2F2"/>
                </a:solidFill>
                <a:latin typeface="Poppins Light"/>
              </a:rPr>
              <a:t>&amp;</a:t>
            </a:r>
          </a:p>
          <a:p>
            <a:pPr algn="ctr">
              <a:lnSpc>
                <a:spcPct val="115000"/>
              </a:lnSpc>
              <a:spcAft>
                <a:spcPts val="0"/>
              </a:spcAft>
            </a:pPr>
            <a:r>
              <a:rPr sz="3400" b="0" i="0">
                <a:solidFill>
                  <a:srgbClr val="F2F2F2"/>
                </a:solidFill>
                <a:latin typeface="Poppins Light"/>
              </a:rPr>
              <a:t>BLOCK DIAGRAM</a:t>
            </a:r>
          </a:p>
        </p:txBody>
      </p:sp>
      <p:sp>
        <p:nvSpPr>
          <p:cNvPr id="4" name="Title dash"/>
          <p:cNvSpPr/>
          <p:nvPr/>
        </p:nvSpPr>
        <p:spPr>
          <a:xfrm>
            <a:off x="5903823" y="4526280"/>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PIPELINE BLOCK DIAGRAM</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34440" y="1691640"/>
            <a:ext cx="2834640" cy="777240"/>
          </a:xfrm>
          <a:prstGeom prst="roundRect">
            <a:avLst/>
          </a:prstGeom>
          <a:solidFill>
            <a:srgbClr val="FCE4E1"/>
          </a:solidFill>
          <a:ln w="12700">
            <a:solidFill>
              <a:srgbClr val="E07B6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ERA5 reanalysis</a:t>
            </a:r>
          </a:p>
          <a:p>
            <a:pPr algn="ctr">
              <a:lnSpc>
                <a:spcPct val="100000"/>
              </a:lnSpc>
            </a:pPr>
            <a:r>
              <a:rPr sz="1050">
                <a:solidFill>
                  <a:srgbClr val="666666"/>
                </a:solidFill>
                <a:latin typeface="Poppins"/>
              </a:rPr>
              <a:t>Open-Meteo API · 10 cities · 1981–2025</a:t>
            </a:r>
          </a:p>
        </p:txBody>
      </p:sp>
      <p:sp>
        <p:nvSpPr>
          <p:cNvPr id="6" name="Rounded Rectangle 5"/>
          <p:cNvSpPr/>
          <p:nvPr/>
        </p:nvSpPr>
        <p:spPr>
          <a:xfrm>
            <a:off x="4663440" y="1691640"/>
            <a:ext cx="2834640" cy="777240"/>
          </a:xfrm>
          <a:prstGeom prst="roundRect">
            <a:avLst/>
          </a:prstGeom>
          <a:solidFill>
            <a:srgbClr val="FCE4E1"/>
          </a:solidFill>
          <a:ln w="12700">
            <a:solidFill>
              <a:srgbClr val="E07B6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01 Fetch</a:t>
            </a:r>
          </a:p>
          <a:p>
            <a:pPr algn="ctr">
              <a:lnSpc>
                <a:spcPct val="100000"/>
              </a:lnSpc>
            </a:pPr>
            <a:r>
              <a:rPr sz="1050">
                <a:solidFill>
                  <a:srgbClr val="666666"/>
                </a:solidFill>
                <a:latin typeface="Poppins"/>
              </a:rPr>
              <a:t>jsonlite · retries · cache</a:t>
            </a:r>
          </a:p>
        </p:txBody>
      </p:sp>
      <p:cxnSp>
        <p:nvCxnSpPr>
          <p:cNvPr id="7" name="Connector 6"/>
          <p:cNvCxnSpPr/>
          <p:nvPr/>
        </p:nvCxnSpPr>
        <p:spPr>
          <a:xfrm>
            <a:off x="4069079" y="2080260"/>
            <a:ext cx="594361" cy="0"/>
          </a:xfrm>
          <a:prstGeom prst="line">
            <a:avLst/>
          </a:prstGeom>
          <a:ln w="15875">
            <a:solidFill>
              <a:srgbClr val="E07B6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092440" y="1691640"/>
            <a:ext cx="2834640" cy="777240"/>
          </a:xfrm>
          <a:prstGeom prst="roundRect">
            <a:avLst/>
          </a:prstGeom>
          <a:solidFill>
            <a:srgbClr val="FCE4E1"/>
          </a:solidFill>
          <a:ln w="12700">
            <a:solidFill>
              <a:srgbClr val="E07B6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02 Features</a:t>
            </a:r>
          </a:p>
          <a:p>
            <a:pPr algn="ctr">
              <a:lnSpc>
                <a:spcPct val="100000"/>
              </a:lnSpc>
            </a:pPr>
            <a:r>
              <a:rPr sz="1050">
                <a:solidFill>
                  <a:srgbClr val="666666"/>
                </a:solidFill>
                <a:latin typeface="Poppins"/>
              </a:rPr>
              <a:t>harmonic normals · IMD rule · Tw · HI</a:t>
            </a:r>
          </a:p>
        </p:txBody>
      </p:sp>
      <p:cxnSp>
        <p:nvCxnSpPr>
          <p:cNvPr id="9" name="Connector 8"/>
          <p:cNvCxnSpPr/>
          <p:nvPr/>
        </p:nvCxnSpPr>
        <p:spPr>
          <a:xfrm>
            <a:off x="7498079" y="2080260"/>
            <a:ext cx="594361" cy="0"/>
          </a:xfrm>
          <a:prstGeom prst="line">
            <a:avLst/>
          </a:prstGeom>
          <a:ln w="15875">
            <a:solidFill>
              <a:srgbClr val="E07B6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2468880"/>
            <a:ext cx="0" cy="365760"/>
          </a:xfrm>
          <a:prstGeom prst="line">
            <a:avLst/>
          </a:prstGeom>
          <a:ln w="15875">
            <a:solidFill>
              <a:srgbClr val="E07B6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50111" y="2834640"/>
            <a:ext cx="9491472" cy="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50111"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8591" y="3063240"/>
            <a:ext cx="1463040" cy="868680"/>
          </a:xfrm>
          <a:prstGeom prst="roundRect">
            <a:avLst/>
          </a:prstGeom>
          <a:solidFill>
            <a:srgbClr val="DDEBF8"/>
          </a:solidFill>
          <a:ln w="12700">
            <a:solidFill>
              <a:srgbClr val="6F9CD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03 EDA</a:t>
            </a:r>
          </a:p>
          <a:p>
            <a:pPr algn="ctr">
              <a:lnSpc>
                <a:spcPct val="100000"/>
              </a:lnSpc>
            </a:pPr>
            <a:r>
              <a:rPr sz="1050">
                <a:solidFill>
                  <a:srgbClr val="666666"/>
                </a:solidFill>
                <a:latin typeface="Poppins"/>
              </a:rPr>
              <a:t>correlation · regression</a:t>
            </a:r>
          </a:p>
        </p:txBody>
      </p:sp>
      <p:cxnSp>
        <p:nvCxnSpPr>
          <p:cNvPr id="14" name="Connector 13"/>
          <p:cNvCxnSpPr/>
          <p:nvPr/>
        </p:nvCxnSpPr>
        <p:spPr>
          <a:xfrm>
            <a:off x="2932023"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200503" y="3063240"/>
            <a:ext cx="1463040" cy="868680"/>
          </a:xfrm>
          <a:prstGeom prst="roundRect">
            <a:avLst/>
          </a:prstGeom>
          <a:solidFill>
            <a:srgbClr val="DDF3E2"/>
          </a:solidFill>
          <a:ln w="12700">
            <a:solidFill>
              <a:srgbClr val="6CB58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04 Fits</a:t>
            </a:r>
          </a:p>
          <a:p>
            <a:pPr algn="ctr">
              <a:lnSpc>
                <a:spcPct val="100000"/>
              </a:lnSpc>
            </a:pPr>
            <a:r>
              <a:rPr sz="1050">
                <a:solidFill>
                  <a:srgbClr val="666666"/>
                </a:solidFill>
                <a:latin typeface="Poppins"/>
              </a:rPr>
              <a:t>MLE · AIC · KS/AD</a:t>
            </a:r>
          </a:p>
        </p:txBody>
      </p:sp>
      <p:cxnSp>
        <p:nvCxnSpPr>
          <p:cNvPr id="16" name="Connector 15"/>
          <p:cNvCxnSpPr/>
          <p:nvPr/>
        </p:nvCxnSpPr>
        <p:spPr>
          <a:xfrm>
            <a:off x="4513935"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782415" y="3063240"/>
            <a:ext cx="1463040" cy="868680"/>
          </a:xfrm>
          <a:prstGeom prst="roundRect">
            <a:avLst/>
          </a:prstGeom>
          <a:solidFill>
            <a:srgbClr val="DDEBF8"/>
          </a:solidFill>
          <a:ln w="12700">
            <a:solidFill>
              <a:srgbClr val="6F9CD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05 Blind spot</a:t>
            </a:r>
          </a:p>
          <a:p>
            <a:pPr algn="ctr">
              <a:lnSpc>
                <a:spcPct val="100000"/>
              </a:lnSpc>
            </a:pPr>
            <a:r>
              <a:rPr sz="1050">
                <a:solidFill>
                  <a:srgbClr val="666666"/>
                </a:solidFill>
                <a:latin typeface="Poppins"/>
              </a:rPr>
              <a:t>CIs · χ² · κ · Bayes</a:t>
            </a:r>
          </a:p>
        </p:txBody>
      </p:sp>
      <p:cxnSp>
        <p:nvCxnSpPr>
          <p:cNvPr id="18" name="Connector 17"/>
          <p:cNvCxnSpPr/>
          <p:nvPr/>
        </p:nvCxnSpPr>
        <p:spPr>
          <a:xfrm>
            <a:off x="6095847"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364327" y="3063240"/>
            <a:ext cx="1463040" cy="868680"/>
          </a:xfrm>
          <a:prstGeom prst="roundRect">
            <a:avLst/>
          </a:prstGeom>
          <a:solidFill>
            <a:srgbClr val="DDF3E2"/>
          </a:solidFill>
          <a:ln w="12700">
            <a:solidFill>
              <a:srgbClr val="6CB58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06 Trends</a:t>
            </a:r>
          </a:p>
          <a:p>
            <a:pPr algn="ctr">
              <a:lnSpc>
                <a:spcPct val="100000"/>
              </a:lnSpc>
            </a:pPr>
            <a:r>
              <a:rPr sz="1050">
                <a:solidFill>
                  <a:srgbClr val="666666"/>
                </a:solidFill>
                <a:latin typeface="Poppins"/>
              </a:rPr>
              <a:t>MK · NB GLM · ANOVA</a:t>
            </a:r>
          </a:p>
        </p:txBody>
      </p:sp>
      <p:cxnSp>
        <p:nvCxnSpPr>
          <p:cNvPr id="20" name="Connector 19"/>
          <p:cNvCxnSpPr/>
          <p:nvPr/>
        </p:nvCxnSpPr>
        <p:spPr>
          <a:xfrm>
            <a:off x="7677759"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946239" y="3063240"/>
            <a:ext cx="1463040" cy="868680"/>
          </a:xfrm>
          <a:prstGeom prst="roundRect">
            <a:avLst/>
          </a:prstGeom>
          <a:solidFill>
            <a:srgbClr val="DDEBF8"/>
          </a:solidFill>
          <a:ln w="12700">
            <a:solidFill>
              <a:srgbClr val="6F9CD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07 Extremes</a:t>
            </a:r>
          </a:p>
          <a:p>
            <a:pPr algn="ctr">
              <a:lnSpc>
                <a:spcPct val="100000"/>
              </a:lnSpc>
            </a:pPr>
            <a:r>
              <a:rPr sz="1050">
                <a:solidFill>
                  <a:srgbClr val="666666"/>
                </a:solidFill>
                <a:latin typeface="Poppins"/>
              </a:rPr>
              <a:t>GEV · return levels</a:t>
            </a:r>
          </a:p>
        </p:txBody>
      </p:sp>
      <p:cxnSp>
        <p:nvCxnSpPr>
          <p:cNvPr id="22" name="Connector 21"/>
          <p:cNvCxnSpPr/>
          <p:nvPr/>
        </p:nvCxnSpPr>
        <p:spPr>
          <a:xfrm>
            <a:off x="9259671"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528151" y="3063240"/>
            <a:ext cx="1463040" cy="868680"/>
          </a:xfrm>
          <a:prstGeom prst="roundRect">
            <a:avLst/>
          </a:prstGeom>
          <a:solidFill>
            <a:srgbClr val="DDF3E2"/>
          </a:solidFill>
          <a:ln w="12700">
            <a:solidFill>
              <a:srgbClr val="6CB58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08 Spells</a:t>
            </a:r>
          </a:p>
          <a:p>
            <a:pPr algn="ctr">
              <a:lnSpc>
                <a:spcPct val="100000"/>
              </a:lnSpc>
            </a:pPr>
            <a:r>
              <a:rPr sz="1050">
                <a:solidFill>
                  <a:srgbClr val="666666"/>
                </a:solidFill>
                <a:latin typeface="Poppins"/>
              </a:rPr>
              <a:t>Markov · Monte Carlo</a:t>
            </a:r>
          </a:p>
        </p:txBody>
      </p:sp>
      <p:cxnSp>
        <p:nvCxnSpPr>
          <p:cNvPr id="24" name="Connector 23"/>
          <p:cNvCxnSpPr/>
          <p:nvPr/>
        </p:nvCxnSpPr>
        <p:spPr>
          <a:xfrm>
            <a:off x="10841583" y="2834640"/>
            <a:ext cx="0" cy="228600"/>
          </a:xfrm>
          <a:prstGeom prst="line">
            <a:avLst/>
          </a:prstGeom>
          <a:ln w="15875">
            <a:solidFill>
              <a:srgbClr val="6F9CD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110063" y="3063240"/>
            <a:ext cx="1463040" cy="868680"/>
          </a:xfrm>
          <a:prstGeom prst="roundRect">
            <a:avLst/>
          </a:prstGeom>
          <a:solidFill>
            <a:srgbClr val="DDEBF8"/>
          </a:solidFill>
          <a:ln w="12700">
            <a:solidFill>
              <a:srgbClr val="6F9CD0"/>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09 Warning</a:t>
            </a:r>
          </a:p>
          <a:p>
            <a:pPr algn="ctr">
              <a:lnSpc>
                <a:spcPct val="100000"/>
              </a:lnSpc>
            </a:pPr>
            <a:r>
              <a:rPr sz="1050">
                <a:solidFill>
                  <a:srgbClr val="666666"/>
                </a:solidFill>
                <a:latin typeface="Poppins"/>
              </a:rPr>
              <a:t>logistic · ROC · Brier</a:t>
            </a:r>
          </a:p>
        </p:txBody>
      </p:sp>
      <p:cxnSp>
        <p:nvCxnSpPr>
          <p:cNvPr id="26" name="Connector 25"/>
          <p:cNvCxnSpPr/>
          <p:nvPr/>
        </p:nvCxnSpPr>
        <p:spPr>
          <a:xfrm>
            <a:off x="1350111" y="4160520"/>
            <a:ext cx="9491472" cy="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50111"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32023"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513935"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095847"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677759"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259671"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841583" y="3931920"/>
            <a:ext cx="0" cy="22860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95847" y="4160520"/>
            <a:ext cx="0" cy="274320"/>
          </a:xfrm>
          <a:prstGeom prst="line">
            <a:avLst/>
          </a:prstGeom>
          <a:ln w="15875">
            <a:solidFill>
              <a:srgbClr val="D4B03C"/>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084167" y="4434840"/>
            <a:ext cx="4023360" cy="640080"/>
          </a:xfrm>
          <a:prstGeom prst="roundRect">
            <a:avLst/>
          </a:prstGeom>
          <a:solidFill>
            <a:srgbClr val="FFF4C7"/>
          </a:solidFill>
          <a:ln w="12700">
            <a:solidFill>
              <a:srgbClr val="D4B03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outputs/  ·  30+ tables · 14 figures × 2 themes</a:t>
            </a:r>
          </a:p>
          <a:p>
            <a:pPr algn="ctr">
              <a:lnSpc>
                <a:spcPct val="100000"/>
              </a:lnSpc>
            </a:pPr>
            <a:r>
              <a:rPr sz="1050">
                <a:solidFill>
                  <a:srgbClr val="666666"/>
                </a:solidFill>
                <a:latin typeface="Poppins"/>
              </a:rPr>
              <a:t>CSV + RDS, every number traceable</a:t>
            </a:r>
          </a:p>
        </p:txBody>
      </p:sp>
      <p:cxnSp>
        <p:nvCxnSpPr>
          <p:cNvPr id="36" name="Connector 35"/>
          <p:cNvCxnSpPr/>
          <p:nvPr/>
        </p:nvCxnSpPr>
        <p:spPr>
          <a:xfrm>
            <a:off x="6095847" y="5074920"/>
            <a:ext cx="0" cy="18288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645920" y="5440680"/>
            <a:ext cx="2651760" cy="685800"/>
          </a:xfrm>
          <a:prstGeom prst="roundRect">
            <a:avLst/>
          </a:prstGeom>
          <a:solidFill>
            <a:srgbClr val="FDEBD9"/>
          </a:solidFill>
          <a:ln w="12700">
            <a:solidFill>
              <a:srgbClr val="E09A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10 Report</a:t>
            </a:r>
          </a:p>
          <a:p>
            <a:pPr algn="ctr">
              <a:lnSpc>
                <a:spcPct val="100000"/>
              </a:lnSpc>
            </a:pPr>
            <a:r>
              <a:rPr sz="1050">
                <a:solidFill>
                  <a:srgbClr val="666666"/>
                </a:solidFill>
                <a:latin typeface="Poppins"/>
              </a:rPr>
              <a:t>knitr + markdown → HTML / PDF</a:t>
            </a:r>
          </a:p>
        </p:txBody>
      </p:sp>
      <p:cxnSp>
        <p:nvCxnSpPr>
          <p:cNvPr id="38" name="Connector 37"/>
          <p:cNvCxnSpPr/>
          <p:nvPr/>
        </p:nvCxnSpPr>
        <p:spPr>
          <a:xfrm>
            <a:off x="6095847" y="5074920"/>
            <a:ext cx="0" cy="18288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4754880" y="5440680"/>
            <a:ext cx="2651760" cy="685800"/>
          </a:xfrm>
          <a:prstGeom prst="roundRect">
            <a:avLst/>
          </a:prstGeom>
          <a:solidFill>
            <a:srgbClr val="FDEBD9"/>
          </a:solidFill>
          <a:ln w="12700">
            <a:solidFill>
              <a:srgbClr val="E09A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Shiny dashboard</a:t>
            </a:r>
          </a:p>
          <a:p>
            <a:pPr algn="ctr">
              <a:lnSpc>
                <a:spcPct val="100000"/>
              </a:lnSpc>
            </a:pPr>
            <a:r>
              <a:rPr sz="1050">
                <a:solidFill>
                  <a:srgbClr val="666666"/>
                </a:solidFill>
                <a:latin typeface="Poppins"/>
              </a:rPr>
              <a:t>bslib · 5 tabs · risk calculator</a:t>
            </a:r>
          </a:p>
        </p:txBody>
      </p:sp>
      <p:cxnSp>
        <p:nvCxnSpPr>
          <p:cNvPr id="40" name="Connector 39"/>
          <p:cNvCxnSpPr/>
          <p:nvPr/>
        </p:nvCxnSpPr>
        <p:spPr>
          <a:xfrm>
            <a:off x="6095847" y="5074920"/>
            <a:ext cx="0" cy="18288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7863840" y="5440680"/>
            <a:ext cx="2651760" cy="685800"/>
          </a:xfrm>
          <a:prstGeom prst="roundRect">
            <a:avLst/>
          </a:prstGeom>
          <a:solidFill>
            <a:srgbClr val="FDEBD9"/>
          </a:solidFill>
          <a:ln w="12700">
            <a:solidFill>
              <a:srgbClr val="E09A5A"/>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300">
                <a:solidFill>
                  <a:srgbClr val="222222"/>
                </a:solidFill>
                <a:latin typeface="Poppins"/>
              </a:rPr>
              <a:t>This deck</a:t>
            </a:r>
          </a:p>
          <a:p>
            <a:pPr algn="ctr">
              <a:lnSpc>
                <a:spcPct val="100000"/>
              </a:lnSpc>
            </a:pPr>
            <a:r>
              <a:rPr sz="1050">
                <a:solidFill>
                  <a:srgbClr val="666666"/>
                </a:solidFill>
                <a:latin typeface="Poppins"/>
              </a:rPr>
              <a:t>figures from ggplot2</a:t>
            </a:r>
          </a:p>
        </p:txBody>
      </p:sp>
      <p:cxnSp>
        <p:nvCxnSpPr>
          <p:cNvPr id="42" name="Connector 41"/>
          <p:cNvCxnSpPr/>
          <p:nvPr/>
        </p:nvCxnSpPr>
        <p:spPr>
          <a:xfrm>
            <a:off x="2971800" y="5257800"/>
            <a:ext cx="6217919" cy="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971800" y="5257800"/>
            <a:ext cx="0" cy="18288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080760" y="5257800"/>
            <a:ext cx="0" cy="18288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189719" y="5257800"/>
            <a:ext cx="0" cy="182880"/>
          </a:xfrm>
          <a:prstGeom prst="line">
            <a:avLst/>
          </a:prstGeom>
          <a:ln w="15875">
            <a:solidFill>
              <a:srgbClr val="E09A5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77240" y="6355080"/>
            <a:ext cx="10607040" cy="320040"/>
          </a:xfrm>
          <a:prstGeom prst="rect">
            <a:avLst/>
          </a:prstGeom>
          <a:noFill/>
        </p:spPr>
        <p:txBody>
          <a:bodyPr wrap="square" lIns="0" rIns="0" tIns="0" bIns="0" anchor="t">
            <a:spAutoFit/>
          </a:bodyPr>
          <a:lstStyle/>
          <a:p>
            <a:pPr algn="ctr">
              <a:lnSpc>
                <a:spcPct val="112000"/>
              </a:lnSpc>
              <a:spcAft>
                <a:spcPts val="0"/>
              </a:spcAft>
            </a:pPr>
            <a:r>
              <a:rPr sz="1200" b="0" i="0">
                <a:solidFill>
                  <a:srgbClr val="A8A8A8"/>
                </a:solidFill>
                <a:latin typeface="Poppins Light"/>
              </a:rPr>
              <a:t>Rscript run_all.R reproduces everything from raw data in under a minute.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DATA</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00200"/>
            <a:ext cx="2651760" cy="685800"/>
          </a:xfrm>
          <a:prstGeom prst="rect">
            <a:avLst/>
          </a:prstGeom>
          <a:noFill/>
        </p:spPr>
        <p:txBody>
          <a:bodyPr wrap="square" lIns="0" rIns="0" tIns="0" bIns="0" anchor="b">
            <a:spAutoFit/>
          </a:bodyPr>
          <a:lstStyle/>
          <a:p>
            <a:pPr algn="l">
              <a:lnSpc>
                <a:spcPct val="112000"/>
              </a:lnSpc>
              <a:spcAft>
                <a:spcPts val="0"/>
              </a:spcAft>
            </a:pPr>
            <a:r>
              <a:rPr sz="4400" b="0" i="0">
                <a:solidFill>
                  <a:srgbClr val="E08A3C"/>
                </a:solidFill>
                <a:latin typeface="Poppins Light"/>
              </a:rPr>
              <a:t>164,360</a:t>
            </a:r>
          </a:p>
        </p:txBody>
      </p:sp>
      <p:sp>
        <p:nvSpPr>
          <p:cNvPr id="6" name="TextBox 5"/>
          <p:cNvSpPr txBox="1"/>
          <p:nvPr/>
        </p:nvSpPr>
        <p:spPr>
          <a:xfrm>
            <a:off x="777240" y="2350008"/>
            <a:ext cx="26517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city-days, no missing values</a:t>
            </a:r>
          </a:p>
        </p:txBody>
      </p:sp>
      <p:sp>
        <p:nvSpPr>
          <p:cNvPr id="7" name="TextBox 6"/>
          <p:cNvSpPr txBox="1"/>
          <p:nvPr/>
        </p:nvSpPr>
        <p:spPr>
          <a:xfrm>
            <a:off x="3566160" y="1600200"/>
            <a:ext cx="2651760" cy="685800"/>
          </a:xfrm>
          <a:prstGeom prst="rect">
            <a:avLst/>
          </a:prstGeom>
          <a:noFill/>
        </p:spPr>
        <p:txBody>
          <a:bodyPr wrap="square" lIns="0" rIns="0" tIns="0" bIns="0" anchor="b">
            <a:spAutoFit/>
          </a:bodyPr>
          <a:lstStyle/>
          <a:p>
            <a:pPr algn="l">
              <a:lnSpc>
                <a:spcPct val="112000"/>
              </a:lnSpc>
              <a:spcAft>
                <a:spcPts val="0"/>
              </a:spcAft>
            </a:pPr>
            <a:r>
              <a:rPr sz="4400" b="0" i="0">
                <a:solidFill>
                  <a:srgbClr val="F2F2F2"/>
                </a:solidFill>
                <a:latin typeface="Poppins Light"/>
              </a:rPr>
              <a:t>10</a:t>
            </a:r>
          </a:p>
        </p:txBody>
      </p:sp>
      <p:sp>
        <p:nvSpPr>
          <p:cNvPr id="8" name="TextBox 7"/>
          <p:cNvSpPr txBox="1"/>
          <p:nvPr/>
        </p:nvSpPr>
        <p:spPr>
          <a:xfrm>
            <a:off x="3566160" y="2350008"/>
            <a:ext cx="26517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cities: 7 plains, 3 coastal</a:t>
            </a:r>
          </a:p>
        </p:txBody>
      </p:sp>
      <p:sp>
        <p:nvSpPr>
          <p:cNvPr id="9" name="TextBox 8"/>
          <p:cNvSpPr txBox="1"/>
          <p:nvPr/>
        </p:nvSpPr>
        <p:spPr>
          <a:xfrm>
            <a:off x="6355079" y="1600200"/>
            <a:ext cx="2651760" cy="685800"/>
          </a:xfrm>
          <a:prstGeom prst="rect">
            <a:avLst/>
          </a:prstGeom>
          <a:noFill/>
        </p:spPr>
        <p:txBody>
          <a:bodyPr wrap="square" lIns="0" rIns="0" tIns="0" bIns="0" anchor="b">
            <a:spAutoFit/>
          </a:bodyPr>
          <a:lstStyle/>
          <a:p>
            <a:pPr algn="l">
              <a:lnSpc>
                <a:spcPct val="112000"/>
              </a:lnSpc>
              <a:spcAft>
                <a:spcPts val="0"/>
              </a:spcAft>
            </a:pPr>
            <a:r>
              <a:rPr sz="4400" b="0" i="0">
                <a:solidFill>
                  <a:srgbClr val="F2F2F2"/>
                </a:solidFill>
                <a:latin typeface="Poppins Light"/>
              </a:rPr>
              <a:t>45</a:t>
            </a:r>
          </a:p>
        </p:txBody>
      </p:sp>
      <p:sp>
        <p:nvSpPr>
          <p:cNvPr id="10" name="TextBox 9"/>
          <p:cNvSpPr txBox="1"/>
          <p:nvPr/>
        </p:nvSpPr>
        <p:spPr>
          <a:xfrm>
            <a:off x="6355079" y="2350008"/>
            <a:ext cx="26517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years, 1981–2025 (ERA5)</a:t>
            </a:r>
          </a:p>
        </p:txBody>
      </p:sp>
      <p:sp>
        <p:nvSpPr>
          <p:cNvPr id="11" name="TextBox 10"/>
          <p:cNvSpPr txBox="1"/>
          <p:nvPr/>
        </p:nvSpPr>
        <p:spPr>
          <a:xfrm>
            <a:off x="9143999" y="1600200"/>
            <a:ext cx="2651760" cy="685800"/>
          </a:xfrm>
          <a:prstGeom prst="rect">
            <a:avLst/>
          </a:prstGeom>
          <a:noFill/>
        </p:spPr>
        <p:txBody>
          <a:bodyPr wrap="square" lIns="0" rIns="0" tIns="0" bIns="0" anchor="b">
            <a:spAutoFit/>
          </a:bodyPr>
          <a:lstStyle/>
          <a:p>
            <a:pPr algn="l">
              <a:lnSpc>
                <a:spcPct val="112000"/>
              </a:lnSpc>
              <a:spcAft>
                <a:spcPts val="0"/>
              </a:spcAft>
            </a:pPr>
            <a:r>
              <a:rPr sz="4400" b="0" i="0">
                <a:solidFill>
                  <a:srgbClr val="F2F2F2"/>
                </a:solidFill>
                <a:latin typeface="Poppins Light"/>
              </a:rPr>
              <a:t>6</a:t>
            </a:r>
          </a:p>
        </p:txBody>
      </p:sp>
      <p:sp>
        <p:nvSpPr>
          <p:cNvPr id="12" name="TextBox 11"/>
          <p:cNvSpPr txBox="1"/>
          <p:nvPr/>
        </p:nvSpPr>
        <p:spPr>
          <a:xfrm>
            <a:off x="9143999" y="2350008"/>
            <a:ext cx="26517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daily variables per city</a:t>
            </a:r>
          </a:p>
        </p:txBody>
      </p:sp>
      <p:sp>
        <p:nvSpPr>
          <p:cNvPr id="13" name="TextBox 12"/>
          <p:cNvSpPr txBox="1"/>
          <p:nvPr/>
        </p:nvSpPr>
        <p:spPr>
          <a:xfrm>
            <a:off x="777240" y="3520440"/>
            <a:ext cx="5120640" cy="2651760"/>
          </a:xfrm>
          <a:prstGeom prst="rect">
            <a:avLst/>
          </a:prstGeom>
          <a:noFill/>
        </p:spPr>
        <p:txBody>
          <a:bodyPr wrap="square" lIns="0" rIns="0" tIns="0" bIns="0" anchor="t">
            <a:spAutoFit/>
          </a:bodyPr>
          <a:lstStyle/>
          <a:p>
            <a:pPr algn="l">
              <a:lnSpc>
                <a:spcPct val="112000"/>
              </a:lnSpc>
              <a:spcAft>
                <a:spcPts val="1000"/>
              </a:spcAft>
            </a:pPr>
            <a:r>
              <a:rPr sz="1500" b="0" i="0">
                <a:solidFill>
                  <a:srgbClr val="5B9BE6"/>
                </a:solidFill>
                <a:latin typeface="Poppins"/>
              </a:rPr>
              <a:t>Plains rule (≥ 40 °C): </a:t>
            </a:r>
            <a:r>
              <a:rPr sz="1500" b="0" i="0">
                <a:solidFill>
                  <a:srgbClr val="F2F2F2"/>
                </a:solidFill>
                <a:latin typeface="Poppins Light"/>
              </a:rPr>
              <a:t>Delhi, Lucknow, Ahmedabad, Nagpur, Kolkata, Bhubaneswar, Vellore</a:t>
            </a:r>
          </a:p>
          <a:p>
            <a:pPr algn="l">
              <a:lnSpc>
                <a:spcPct val="112000"/>
              </a:lnSpc>
              <a:spcAft>
                <a:spcPts val="1000"/>
              </a:spcAft>
            </a:pPr>
            <a:r>
              <a:rPr sz="1500" b="0" i="0">
                <a:solidFill>
                  <a:srgbClr val="E08A3C"/>
                </a:solidFill>
                <a:latin typeface="Poppins"/>
              </a:rPr>
              <a:t>Coastal rule (≥ 37 °C): </a:t>
            </a:r>
            <a:r>
              <a:rPr sz="1500" b="0" i="0">
                <a:solidFill>
                  <a:srgbClr val="F2F2F2"/>
                </a:solidFill>
                <a:latin typeface="Poppins Light"/>
              </a:rPr>
              <a:t>Chennai, Mumbai, Visakhapatnam</a:t>
            </a:r>
          </a:p>
          <a:p>
            <a:pPr algn="l">
              <a:lnSpc>
                <a:spcPct val="112000"/>
              </a:lnSpc>
              <a:spcAft>
                <a:spcPts val="1000"/>
              </a:spcAft>
            </a:pPr>
            <a:r>
              <a:rPr sz="1500" b="0" i="0">
                <a:solidFill>
                  <a:srgbClr val="F2F2F2"/>
                </a:solidFill>
                <a:latin typeface="Poppins"/>
              </a:rPr>
              <a:t>Variables: </a:t>
            </a:r>
            <a:r>
              <a:rPr sz="1500" b="0" i="0">
                <a:solidFill>
                  <a:srgbClr val="F2F2F2"/>
                </a:solidFill>
                <a:latin typeface="Poppins Light"/>
              </a:rPr>
              <a:t>Tmax, Tmin, daily max and mean wet-bulb, RH min and mean</a:t>
            </a:r>
          </a:p>
        </p:txBody>
      </p:sp>
      <p:sp>
        <p:nvSpPr>
          <p:cNvPr id="14" name="TextBox 13"/>
          <p:cNvSpPr txBox="1"/>
          <p:nvPr/>
        </p:nvSpPr>
        <p:spPr>
          <a:xfrm>
            <a:off x="6263640" y="3520440"/>
            <a:ext cx="5212080" cy="2651760"/>
          </a:xfrm>
          <a:prstGeom prst="rect">
            <a:avLst/>
          </a:prstGeom>
          <a:noFill/>
        </p:spPr>
        <p:txBody>
          <a:bodyPr wrap="square" lIns="0" rIns="0" tIns="0" bIns="0" anchor="t">
            <a:spAutoFit/>
          </a:bodyPr>
          <a:lstStyle/>
          <a:p>
            <a:pPr algn="l">
              <a:lnSpc>
                <a:spcPct val="112000"/>
              </a:lnSpc>
              <a:spcAft>
                <a:spcPts val="1000"/>
              </a:spcAft>
            </a:pPr>
            <a:r>
              <a:rPr sz="1500" b="0" i="0">
                <a:solidFill>
                  <a:srgbClr val="E08A3C"/>
                </a:solidFill>
                <a:latin typeface="Poppins"/>
              </a:rPr>
              <a:t>Danger day: </a:t>
            </a:r>
            <a:r>
              <a:rPr sz="1500" b="0" i="0">
                <a:solidFill>
                  <a:srgbClr val="F2F2F2"/>
                </a:solidFill>
                <a:latin typeface="Poppins Light"/>
              </a:rPr>
              <a:t>daily max wet-bulb ≥ 29 °C</a:t>
            </a:r>
          </a:p>
          <a:p>
            <a:pPr algn="l">
              <a:lnSpc>
                <a:spcPct val="112000"/>
              </a:lnSpc>
              <a:spcAft>
                <a:spcPts val="1000"/>
              </a:spcAft>
            </a:pPr>
            <a:r>
              <a:rPr sz="1500" b="0" i="0">
                <a:solidFill>
                  <a:srgbClr val="E08A3C"/>
                </a:solidFill>
                <a:latin typeface="Poppins"/>
              </a:rPr>
              <a:t>Critical day: </a:t>
            </a:r>
            <a:r>
              <a:rPr sz="1500" b="0" i="0">
                <a:solidFill>
                  <a:srgbClr val="F2F2F2"/>
                </a:solidFill>
                <a:latin typeface="Poppins Light"/>
              </a:rPr>
              <a:t>wet-bulb ≥ 31 °C (Vecellio 2022)</a:t>
            </a:r>
          </a:p>
          <a:p>
            <a:pPr algn="l">
              <a:lnSpc>
                <a:spcPct val="112000"/>
              </a:lnSpc>
              <a:spcAft>
                <a:spcPts val="1000"/>
              </a:spcAft>
            </a:pPr>
            <a:r>
              <a:rPr sz="1500" b="0" i="0">
                <a:solidFill>
                  <a:srgbClr val="5B9BE6"/>
                </a:solidFill>
                <a:latin typeface="Poppins"/>
              </a:rPr>
              <a:t>IMD heatwave day: </a:t>
            </a:r>
            <a:r>
              <a:rPr sz="1500" b="0" i="0">
                <a:solidFill>
                  <a:srgbClr val="F2F2F2"/>
                </a:solidFill>
                <a:latin typeface="Poppins Light"/>
              </a:rPr>
              <a:t>rule met on ≥ 2 consecutive days, departure from a harmonic-regression normal</a:t>
            </a:r>
          </a:p>
          <a:p>
            <a:pPr algn="l">
              <a:lnSpc>
                <a:spcPct val="112000"/>
              </a:lnSpc>
              <a:spcAft>
                <a:spcPts val="1000"/>
              </a:spcAft>
            </a:pPr>
            <a:r>
              <a:rPr sz="1500" b="0" i="0">
                <a:solidFill>
                  <a:srgbClr val="F2F2F2"/>
                </a:solidFill>
                <a:latin typeface="Poppins"/>
              </a:rPr>
              <a:t>Physics check: </a:t>
            </a:r>
            <a:r>
              <a:rPr sz="1500" b="0" i="0">
                <a:solidFill>
                  <a:srgbClr val="F2F2F2"/>
                </a:solidFill>
                <a:latin typeface="Poppins Light"/>
              </a:rPr>
              <a:t>Stull wet-bulb vs ERA5, r = 0.96–0.99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c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HOW R POWERS THE PROJECT</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0"/>
            <a:ext cx="3474720" cy="411480"/>
          </a:xfrm>
          <a:prstGeom prst="rect">
            <a:avLst/>
          </a:prstGeom>
          <a:noFill/>
        </p:spPr>
        <p:txBody>
          <a:bodyPr wrap="square" lIns="0" rIns="0" tIns="0" bIns="0" anchor="t">
            <a:spAutoFit/>
          </a:bodyPr>
          <a:lstStyle/>
          <a:p>
            <a:pPr algn="l">
              <a:lnSpc>
                <a:spcPct val="112000"/>
              </a:lnSpc>
              <a:spcAft>
                <a:spcPts val="0"/>
              </a:spcAft>
            </a:pPr>
            <a:r>
              <a:rPr sz="1600" b="0" i="0">
                <a:solidFill>
                  <a:srgbClr val="E08A3C"/>
                </a:solidFill>
                <a:latin typeface="Poppins"/>
              </a:rPr>
              <a:t>WRITTEN FROM SCRATCH</a:t>
            </a:r>
          </a:p>
        </p:txBody>
      </p:sp>
      <p:sp>
        <p:nvSpPr>
          <p:cNvPr id="6" name="TextBox 5"/>
          <p:cNvSpPr txBox="1"/>
          <p:nvPr/>
        </p:nvSpPr>
        <p:spPr>
          <a:xfrm>
            <a:off x="777240" y="2194560"/>
            <a:ext cx="3566160" cy="3840480"/>
          </a:xfrm>
          <a:prstGeom prst="rect">
            <a:avLst/>
          </a:prstGeom>
          <a:noFill/>
        </p:spPr>
        <p:txBody>
          <a:bodyPr wrap="square" lIns="0" rIns="0" tIns="0" bIns="0" anchor="t">
            <a:spAutoFit/>
          </a:bodyPr>
          <a:lstStyle/>
          <a:p>
            <a:pPr algn="l">
              <a:lnSpc>
                <a:spcPct val="112000"/>
              </a:lnSpc>
              <a:spcAft>
                <a:spcPts val="800"/>
              </a:spcAft>
            </a:pPr>
            <a:r>
              <a:rPr sz="1500" b="0" i="0">
                <a:solidFill>
                  <a:srgbClr val="F2F2F2"/>
                </a:solidFill>
                <a:latin typeface="Poppins Light"/>
              </a:rPr>
              <a:t>GEV log-likelihood + MLE (optim, Hessian)</a:t>
            </a:r>
          </a:p>
          <a:p>
            <a:pPr algn="l">
              <a:lnSpc>
                <a:spcPct val="112000"/>
              </a:lnSpc>
              <a:spcAft>
                <a:spcPts val="800"/>
              </a:spcAft>
            </a:pPr>
            <a:r>
              <a:rPr sz="1500" b="0" i="0">
                <a:solidFill>
                  <a:srgbClr val="F2F2F2"/>
                </a:solidFill>
                <a:latin typeface="Poppins Light"/>
              </a:rPr>
              <a:t>Return levels: delta method + bootstrap</a:t>
            </a:r>
          </a:p>
          <a:p>
            <a:pPr algn="l">
              <a:lnSpc>
                <a:spcPct val="112000"/>
              </a:lnSpc>
              <a:spcAft>
                <a:spcPts val="800"/>
              </a:spcAft>
            </a:pPr>
            <a:r>
              <a:rPr sz="1500" b="0" i="0">
                <a:solidFill>
                  <a:srgbClr val="F2F2F2"/>
                </a:solidFill>
                <a:latin typeface="Poppins Light"/>
              </a:rPr>
              <a:t>Mann–Kendall test + Sen's slope</a:t>
            </a:r>
          </a:p>
          <a:p>
            <a:pPr algn="l">
              <a:lnSpc>
                <a:spcPct val="112000"/>
              </a:lnSpc>
              <a:spcAft>
                <a:spcPts val="800"/>
              </a:spcAft>
            </a:pPr>
            <a:r>
              <a:rPr sz="1500" b="0" i="0">
                <a:solidFill>
                  <a:srgbClr val="F2F2F2"/>
                </a:solidFill>
                <a:latin typeface="Poppins Light"/>
              </a:rPr>
              <a:t>Wilson CI · Cohen's κ · Beta posterior</a:t>
            </a:r>
          </a:p>
          <a:p>
            <a:pPr algn="l">
              <a:lnSpc>
                <a:spcPct val="112000"/>
              </a:lnSpc>
              <a:spcAft>
                <a:spcPts val="800"/>
              </a:spcAft>
            </a:pPr>
            <a:r>
              <a:rPr sz="1500" b="0" i="0">
                <a:solidFill>
                  <a:srgbClr val="F2F2F2"/>
                </a:solidFill>
                <a:latin typeface="Poppins Light"/>
              </a:rPr>
              <a:t>Year-block bootstrap · permutation test</a:t>
            </a:r>
          </a:p>
          <a:p>
            <a:pPr algn="l">
              <a:lnSpc>
                <a:spcPct val="112000"/>
              </a:lnSpc>
              <a:spcAft>
                <a:spcPts val="800"/>
              </a:spcAft>
            </a:pPr>
            <a:r>
              <a:rPr sz="1500" b="0" i="0">
                <a:solidFill>
                  <a:srgbClr val="F2F2F2"/>
                </a:solidFill>
                <a:latin typeface="Poppins Light"/>
              </a:rPr>
              <a:t>Markov chain + Monte Carlo simulator</a:t>
            </a:r>
          </a:p>
          <a:p>
            <a:pPr algn="l">
              <a:lnSpc>
                <a:spcPct val="112000"/>
              </a:lnSpc>
              <a:spcAft>
                <a:spcPts val="800"/>
              </a:spcAft>
            </a:pPr>
            <a:r>
              <a:rPr sz="1500" b="0" i="0">
                <a:solidFill>
                  <a:srgbClr val="F2F2F2"/>
                </a:solidFill>
                <a:latin typeface="Poppins Light"/>
              </a:rPr>
              <a:t>IMD rule engine · Stull wet-bulb · NWS HI</a:t>
            </a:r>
          </a:p>
        </p:txBody>
      </p:sp>
      <p:sp>
        <p:nvSpPr>
          <p:cNvPr id="7" name="TextBox 6"/>
          <p:cNvSpPr txBox="1"/>
          <p:nvPr/>
        </p:nvSpPr>
        <p:spPr>
          <a:xfrm>
            <a:off x="4480559" y="1645920"/>
            <a:ext cx="3474720" cy="411480"/>
          </a:xfrm>
          <a:prstGeom prst="rect">
            <a:avLst/>
          </a:prstGeom>
          <a:noFill/>
        </p:spPr>
        <p:txBody>
          <a:bodyPr wrap="square" lIns="0" rIns="0" tIns="0" bIns="0" anchor="t">
            <a:spAutoFit/>
          </a:bodyPr>
          <a:lstStyle/>
          <a:p>
            <a:pPr algn="l">
              <a:lnSpc>
                <a:spcPct val="112000"/>
              </a:lnSpc>
              <a:spcAft>
                <a:spcPts val="0"/>
              </a:spcAft>
            </a:pPr>
            <a:r>
              <a:rPr sz="1600" b="0" i="0">
                <a:solidFill>
                  <a:srgbClr val="F2F2F2"/>
                </a:solidFill>
                <a:latin typeface="Poppins"/>
              </a:rPr>
              <a:t>BASE R STATISTICS</a:t>
            </a:r>
          </a:p>
        </p:txBody>
      </p:sp>
      <p:sp>
        <p:nvSpPr>
          <p:cNvPr id="8" name="TextBox 7"/>
          <p:cNvSpPr txBox="1"/>
          <p:nvPr/>
        </p:nvSpPr>
        <p:spPr>
          <a:xfrm>
            <a:off x="4480559" y="2194560"/>
            <a:ext cx="3566160" cy="3840480"/>
          </a:xfrm>
          <a:prstGeom prst="rect">
            <a:avLst/>
          </a:prstGeom>
          <a:noFill/>
        </p:spPr>
        <p:txBody>
          <a:bodyPr wrap="square" lIns="0" rIns="0" tIns="0" bIns="0" anchor="t">
            <a:spAutoFit/>
          </a:bodyPr>
          <a:lstStyle/>
          <a:p>
            <a:pPr algn="l">
              <a:lnSpc>
                <a:spcPct val="112000"/>
              </a:lnSpc>
              <a:spcAft>
                <a:spcPts val="800"/>
              </a:spcAft>
            </a:pPr>
            <a:r>
              <a:rPr sz="1500" b="0" i="0">
                <a:solidFill>
                  <a:srgbClr val="F2F2F2"/>
                </a:solidFill>
                <a:latin typeface="Poppins Light"/>
              </a:rPr>
              <a:t>lm · glm (binomial, Poisson) · aov</a:t>
            </a:r>
          </a:p>
          <a:p>
            <a:pPr algn="l">
              <a:lnSpc>
                <a:spcPct val="112000"/>
              </a:lnSpc>
              <a:spcAft>
                <a:spcPts val="800"/>
              </a:spcAft>
            </a:pPr>
            <a:r>
              <a:rPr sz="1500" b="0" i="0">
                <a:solidFill>
                  <a:srgbClr val="F2F2F2"/>
                </a:solidFill>
                <a:latin typeface="Poppins Light"/>
              </a:rPr>
              <a:t>TukeyHSD · friedman.test · kruskal.test</a:t>
            </a:r>
          </a:p>
          <a:p>
            <a:pPr algn="l">
              <a:lnSpc>
                <a:spcPct val="112000"/>
              </a:lnSpc>
              <a:spcAft>
                <a:spcPts val="800"/>
              </a:spcAft>
            </a:pPr>
            <a:r>
              <a:rPr sz="1500" b="0" i="0">
                <a:solidFill>
                  <a:srgbClr val="F2F2F2"/>
                </a:solidFill>
                <a:latin typeface="Poppins Light"/>
              </a:rPr>
              <a:t>chisq · fisher · mcnemar · prop · binom</a:t>
            </a:r>
          </a:p>
          <a:p>
            <a:pPr algn="l">
              <a:lnSpc>
                <a:spcPct val="112000"/>
              </a:lnSpc>
              <a:spcAft>
                <a:spcPts val="800"/>
              </a:spcAft>
            </a:pPr>
            <a:r>
              <a:rPr sz="1500" b="0" i="0">
                <a:solidFill>
                  <a:srgbClr val="F2F2F2"/>
                </a:solidFill>
                <a:latin typeface="Poppins Light"/>
              </a:rPr>
              <a:t>t.test · wilcox.test · ks.test</a:t>
            </a:r>
          </a:p>
          <a:p>
            <a:pPr algn="l">
              <a:lnSpc>
                <a:spcPct val="112000"/>
              </a:lnSpc>
              <a:spcAft>
                <a:spcPts val="800"/>
              </a:spcAft>
            </a:pPr>
            <a:r>
              <a:rPr sz="1500" b="0" i="0">
                <a:solidFill>
                  <a:srgbClr val="F2F2F2"/>
                </a:solidFill>
                <a:latin typeface="Poppins Light"/>
              </a:rPr>
              <a:t>shapiro.test · bartlett.test · cor.test</a:t>
            </a:r>
          </a:p>
          <a:p>
            <a:pPr algn="l">
              <a:lnSpc>
                <a:spcPct val="112000"/>
              </a:lnSpc>
              <a:spcAft>
                <a:spcPts val="800"/>
              </a:spcAft>
            </a:pPr>
            <a:r>
              <a:rPr sz="1500" b="0" i="0">
                <a:solidFill>
                  <a:srgbClr val="F2F2F2"/>
                </a:solidFill>
                <a:latin typeface="Poppins Light"/>
              </a:rPr>
              <a:t>optim · optimHess · uniroot · rle</a:t>
            </a:r>
          </a:p>
        </p:txBody>
      </p:sp>
      <p:sp>
        <p:nvSpPr>
          <p:cNvPr id="9" name="TextBox 8"/>
          <p:cNvSpPr txBox="1"/>
          <p:nvPr/>
        </p:nvSpPr>
        <p:spPr>
          <a:xfrm>
            <a:off x="8183879" y="1645920"/>
            <a:ext cx="3474720" cy="411480"/>
          </a:xfrm>
          <a:prstGeom prst="rect">
            <a:avLst/>
          </a:prstGeom>
          <a:noFill/>
        </p:spPr>
        <p:txBody>
          <a:bodyPr wrap="square" lIns="0" rIns="0" tIns="0" bIns="0" anchor="t">
            <a:spAutoFit/>
          </a:bodyPr>
          <a:lstStyle/>
          <a:p>
            <a:pPr algn="l">
              <a:lnSpc>
                <a:spcPct val="112000"/>
              </a:lnSpc>
              <a:spcAft>
                <a:spcPts val="0"/>
              </a:spcAft>
            </a:pPr>
            <a:r>
              <a:rPr sz="1600" b="0" i="0">
                <a:solidFill>
                  <a:srgbClr val="5B9BE6"/>
                </a:solidFill>
                <a:latin typeface="Poppins"/>
              </a:rPr>
              <a:t>PACKAGES</a:t>
            </a:r>
          </a:p>
        </p:txBody>
      </p:sp>
      <p:sp>
        <p:nvSpPr>
          <p:cNvPr id="10" name="TextBox 9"/>
          <p:cNvSpPr txBox="1"/>
          <p:nvPr/>
        </p:nvSpPr>
        <p:spPr>
          <a:xfrm>
            <a:off x="8183879" y="2194560"/>
            <a:ext cx="3566160" cy="3840480"/>
          </a:xfrm>
          <a:prstGeom prst="rect">
            <a:avLst/>
          </a:prstGeom>
          <a:noFill/>
        </p:spPr>
        <p:txBody>
          <a:bodyPr wrap="square" lIns="0" rIns="0" tIns="0" bIns="0" anchor="t">
            <a:spAutoFit/>
          </a:bodyPr>
          <a:lstStyle/>
          <a:p>
            <a:pPr algn="l">
              <a:lnSpc>
                <a:spcPct val="112000"/>
              </a:lnSpc>
              <a:spcAft>
                <a:spcPts val="800"/>
              </a:spcAft>
            </a:pPr>
            <a:r>
              <a:rPr sz="1500" b="0" i="0">
                <a:solidFill>
                  <a:srgbClr val="F2F2F2"/>
                </a:solidFill>
                <a:latin typeface="Poppins Light"/>
              </a:rPr>
              <a:t>dplyr · tidyr: wrangling 164k rows</a:t>
            </a:r>
          </a:p>
          <a:p>
            <a:pPr algn="l">
              <a:lnSpc>
                <a:spcPct val="112000"/>
              </a:lnSpc>
              <a:spcAft>
                <a:spcPts val="800"/>
              </a:spcAft>
            </a:pPr>
            <a:r>
              <a:rPr sz="1500" b="0" i="0">
                <a:solidFill>
                  <a:srgbClr val="F2F2F2"/>
                </a:solidFill>
                <a:latin typeface="Poppins Light"/>
              </a:rPr>
              <a:t>ggplot2 · patchwork · ggridges: 14 figures</a:t>
            </a:r>
          </a:p>
          <a:p>
            <a:pPr algn="l">
              <a:lnSpc>
                <a:spcPct val="112000"/>
              </a:lnSpc>
              <a:spcAft>
                <a:spcPts val="800"/>
              </a:spcAft>
            </a:pPr>
            <a:r>
              <a:rPr sz="1500" b="0" i="0">
                <a:solidFill>
                  <a:srgbClr val="F2F2F2"/>
                </a:solidFill>
                <a:latin typeface="Poppins Light"/>
              </a:rPr>
              <a:t>fitdistrplus · MASS::glm.nb · evd (check)</a:t>
            </a:r>
          </a:p>
          <a:p>
            <a:pPr algn="l">
              <a:lnSpc>
                <a:spcPct val="112000"/>
              </a:lnSpc>
              <a:spcAft>
                <a:spcPts val="800"/>
              </a:spcAft>
            </a:pPr>
            <a:r>
              <a:rPr sz="1500" b="0" i="0">
                <a:solidFill>
                  <a:srgbClr val="F2F2F2"/>
                </a:solidFill>
                <a:latin typeface="Poppins Light"/>
              </a:rPr>
              <a:t>pROC: ROC + DeLong intervals</a:t>
            </a:r>
          </a:p>
          <a:p>
            <a:pPr algn="l">
              <a:lnSpc>
                <a:spcPct val="112000"/>
              </a:lnSpc>
              <a:spcAft>
                <a:spcPts val="800"/>
              </a:spcAft>
            </a:pPr>
            <a:r>
              <a:rPr sz="1500" b="0" i="0">
                <a:solidFill>
                  <a:srgbClr val="F2F2F2"/>
                </a:solidFill>
                <a:latin typeface="Poppins Light"/>
              </a:rPr>
              <a:t>jsonlite: API download</a:t>
            </a:r>
          </a:p>
          <a:p>
            <a:pPr algn="l">
              <a:lnSpc>
                <a:spcPct val="112000"/>
              </a:lnSpc>
              <a:spcAft>
                <a:spcPts val="800"/>
              </a:spcAft>
            </a:pPr>
            <a:r>
              <a:rPr sz="1500" b="0" i="0">
                <a:solidFill>
                  <a:srgbClr val="F2F2F2"/>
                </a:solidFill>
                <a:latin typeface="Poppins Light"/>
              </a:rPr>
              <a:t>shiny · bslib: dashboard</a:t>
            </a:r>
          </a:p>
          <a:p>
            <a:pPr algn="l">
              <a:lnSpc>
                <a:spcPct val="112000"/>
              </a:lnSpc>
              <a:spcAft>
                <a:spcPts val="800"/>
              </a:spcAft>
            </a:pPr>
            <a:r>
              <a:rPr sz="1500" b="0" i="0">
                <a:solidFill>
                  <a:srgbClr val="F2F2F2"/>
                </a:solidFill>
                <a:latin typeface="Poppins Light"/>
              </a:rPr>
              <a:t>knitr · markdown: report</a:t>
            </a:r>
          </a:p>
        </p:txBody>
      </p:sp>
      <p:sp>
        <p:nvSpPr>
          <p:cNvPr id="11" name="TextBox 10"/>
          <p:cNvSpPr txBox="1"/>
          <p:nvPr/>
        </p:nvSpPr>
        <p:spPr>
          <a:xfrm>
            <a:off x="777240" y="6126480"/>
            <a:ext cx="10607040" cy="457200"/>
          </a:xfrm>
          <a:prstGeom prst="rect">
            <a:avLst/>
          </a:prstGeom>
          <a:noFill/>
        </p:spPr>
        <p:txBody>
          <a:bodyPr wrap="square" lIns="0" rIns="0" tIns="0" bIns="0" anchor="t">
            <a:spAutoFit/>
          </a:bodyPr>
          <a:lstStyle/>
          <a:p>
            <a:pPr algn="l">
              <a:lnSpc>
                <a:spcPct val="112000"/>
              </a:lnSpc>
              <a:spcAft>
                <a:spcPts val="0"/>
              </a:spcAft>
            </a:pPr>
            <a:r>
              <a:rPr sz="1400" b="0" i="0">
                <a:solidFill>
                  <a:srgbClr val="A8A8A8"/>
                </a:solidFill>
                <a:latin typeface="Poppins Light"/>
              </a:rPr>
              <a:t>≈ 1,700 lines of R  ·  10 modules  ·  1 command  ·  our MLE matches evd::fgev to every printed digit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2286000" y="2651760"/>
            <a:ext cx="7616952" cy="1463040"/>
          </a:xfrm>
          <a:prstGeom prst="rect">
            <a:avLst/>
          </a:prstGeom>
          <a:noFill/>
        </p:spPr>
        <p:txBody>
          <a:bodyPr wrap="square" lIns="0" rIns="0" tIns="0" bIns="0" anchor="ctr">
            <a:spAutoFit/>
          </a:bodyPr>
          <a:lstStyle/>
          <a:p>
            <a:pPr algn="ctr">
              <a:lnSpc>
                <a:spcPct val="112000"/>
              </a:lnSpc>
              <a:spcAft>
                <a:spcPts val="0"/>
              </a:spcAft>
            </a:pPr>
            <a:r>
              <a:rPr sz="4000" b="0" i="0">
                <a:solidFill>
                  <a:srgbClr val="F2F2F2"/>
                </a:solidFill>
                <a:latin typeface="Poppins Light"/>
              </a:rPr>
              <a:t>RESULTS</a:t>
            </a:r>
          </a:p>
        </p:txBody>
      </p:sp>
      <p:sp>
        <p:nvSpPr>
          <p:cNvPr id="4" name="Title dash"/>
          <p:cNvSpPr/>
          <p:nvPr/>
        </p:nvSpPr>
        <p:spPr>
          <a:xfrm>
            <a:off x="5903823" y="4160520"/>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WHY A DRY-BULB RULE CANNOT SEE HUMID HEAT</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blindspot_scatter.png"/>
          <p:cNvPicPr>
            <a:picLocks noChangeAspect="1"/>
          </p:cNvPicPr>
          <p:nvPr/>
        </p:nvPicPr>
        <p:blipFill>
          <a:blip r:embed="rId4"/>
          <a:stretch>
            <a:fillRect/>
          </a:stretch>
        </p:blipFill>
        <p:spPr>
          <a:xfrm>
            <a:off x="507569" y="1508760"/>
            <a:ext cx="7671661" cy="5029200"/>
          </a:xfrm>
          <a:prstGeom prst="rect">
            <a:avLst/>
          </a:prstGeom>
        </p:spPr>
      </p:pic>
      <p:sp>
        <p:nvSpPr>
          <p:cNvPr id="6" name="TextBox 5"/>
          <p:cNvSpPr txBox="1"/>
          <p:nvPr/>
        </p:nvSpPr>
        <p:spPr>
          <a:xfrm>
            <a:off x="8549640" y="1600200"/>
            <a:ext cx="3291840" cy="685800"/>
          </a:xfrm>
          <a:prstGeom prst="rect">
            <a:avLst/>
          </a:prstGeom>
          <a:noFill/>
        </p:spPr>
        <p:txBody>
          <a:bodyPr wrap="square" lIns="0" rIns="0" tIns="0" bIns="0" anchor="b">
            <a:spAutoFit/>
          </a:bodyPr>
          <a:lstStyle/>
          <a:p>
            <a:pPr algn="l">
              <a:lnSpc>
                <a:spcPct val="112000"/>
              </a:lnSpc>
              <a:spcAft>
                <a:spcPts val="0"/>
              </a:spcAft>
            </a:pPr>
            <a:r>
              <a:rPr sz="2600" b="0" i="0">
                <a:solidFill>
                  <a:srgbClr val="E08A3C"/>
                </a:solidFill>
                <a:latin typeface="Poppins Light"/>
              </a:rPr>
              <a:t>r = -0.61 to -0.91</a:t>
            </a:r>
          </a:p>
        </p:txBody>
      </p:sp>
      <p:sp>
        <p:nvSpPr>
          <p:cNvPr id="7" name="TextBox 6"/>
          <p:cNvSpPr txBox="1"/>
          <p:nvPr/>
        </p:nvSpPr>
        <p:spPr>
          <a:xfrm>
            <a:off x="8549640" y="2350008"/>
            <a:ext cx="329184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Tmax vs RH in every city (p &lt; 0.001): the hottest days are the driest</a:t>
            </a:r>
          </a:p>
        </p:txBody>
      </p:sp>
      <p:sp>
        <p:nvSpPr>
          <p:cNvPr id="8" name="TextBox 7"/>
          <p:cNvSpPr txBox="1"/>
          <p:nvPr/>
        </p:nvSpPr>
        <p:spPr>
          <a:xfrm>
            <a:off x="8549640" y="3154680"/>
            <a:ext cx="3291840" cy="685800"/>
          </a:xfrm>
          <a:prstGeom prst="rect">
            <a:avLst/>
          </a:prstGeom>
          <a:noFill/>
        </p:spPr>
        <p:txBody>
          <a:bodyPr wrap="square" lIns="0" rIns="0" tIns="0" bIns="0" anchor="b">
            <a:spAutoFit/>
          </a:bodyPr>
          <a:lstStyle/>
          <a:p>
            <a:pPr algn="l">
              <a:lnSpc>
                <a:spcPct val="112000"/>
              </a:lnSpc>
              <a:spcAft>
                <a:spcPts val="0"/>
              </a:spcAft>
            </a:pPr>
            <a:r>
              <a:rPr sz="2600" b="0" i="0">
                <a:solidFill>
                  <a:srgbClr val="E08A3C"/>
                </a:solidFill>
                <a:latin typeface="Poppins Light"/>
              </a:rPr>
              <a:t>+1.5–2.1 °C</a:t>
            </a:r>
          </a:p>
        </p:txBody>
      </p:sp>
      <p:sp>
        <p:nvSpPr>
          <p:cNvPr id="9" name="TextBox 8"/>
          <p:cNvSpPr txBox="1"/>
          <p:nvPr/>
        </p:nvSpPr>
        <p:spPr>
          <a:xfrm>
            <a:off x="8549640" y="3904488"/>
            <a:ext cx="329184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wet-bulb rise per +10% humidity at the same temperature (regression)</a:t>
            </a:r>
          </a:p>
        </p:txBody>
      </p:sp>
      <p:sp>
        <p:nvSpPr>
          <p:cNvPr id="10" name="TextBox 9"/>
          <p:cNvSpPr txBox="1"/>
          <p:nvPr/>
        </p:nvSpPr>
        <p:spPr>
          <a:xfrm>
            <a:off x="8549640" y="4709160"/>
            <a:ext cx="3291840" cy="685800"/>
          </a:xfrm>
          <a:prstGeom prst="rect">
            <a:avLst/>
          </a:prstGeom>
          <a:noFill/>
        </p:spPr>
        <p:txBody>
          <a:bodyPr wrap="square" lIns="0" rIns="0" tIns="0" bIns="0" anchor="b">
            <a:spAutoFit/>
          </a:bodyPr>
          <a:lstStyle/>
          <a:p>
            <a:pPr algn="l">
              <a:lnSpc>
                <a:spcPct val="112000"/>
              </a:lnSpc>
              <a:spcAft>
                <a:spcPts val="0"/>
              </a:spcAft>
            </a:pPr>
            <a:r>
              <a:rPr sz="2600" b="0" i="0">
                <a:solidFill>
                  <a:srgbClr val="E08A3C"/>
                </a:solidFill>
                <a:latin typeface="Poppins Light"/>
              </a:rPr>
              <a:t>27 of 990</a:t>
            </a:r>
          </a:p>
        </p:txBody>
      </p:sp>
      <p:sp>
        <p:nvSpPr>
          <p:cNvPr id="11" name="TextBox 10"/>
          <p:cNvSpPr txBox="1"/>
          <p:nvPr/>
        </p:nvSpPr>
        <p:spPr>
          <a:xfrm>
            <a:off x="8549640" y="5458968"/>
            <a:ext cx="329184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IMD heatwave days were also humid-danger days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RQ1 · THE BLIND SPOT</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ro"/>
          <p:cNvSpPr txBox="1"/>
          <p:nvPr/>
        </p:nvSpPr>
        <p:spPr>
          <a:xfrm>
            <a:off x="777240" y="1691640"/>
            <a:ext cx="4206240" cy="1371600"/>
          </a:xfrm>
          <a:prstGeom prst="rect">
            <a:avLst/>
          </a:prstGeom>
          <a:noFill/>
        </p:spPr>
        <p:txBody>
          <a:bodyPr wrap="square" lIns="0" rIns="0" tIns="0" bIns="0" anchor="t">
            <a:spAutoFit/>
          </a:bodyPr>
          <a:lstStyle/>
          <a:p>
            <a:pPr algn="l">
              <a:lnSpc>
                <a:spcPct val="112000"/>
              </a:lnSpc>
              <a:spcAft>
                <a:spcPts val="0"/>
              </a:spcAft>
            </a:pPr>
            <a:r>
              <a:rPr sz="8800" b="0" i="0">
                <a:solidFill>
                  <a:srgbClr val="E08A3C"/>
                </a:solidFill>
                <a:latin typeface="Poppins Light"/>
              </a:rPr>
              <a:t>96.3%</a:t>
            </a:r>
          </a:p>
        </p:txBody>
      </p:sp>
      <p:sp>
        <p:nvSpPr>
          <p:cNvPr id="6" name="TextBox 5"/>
          <p:cNvSpPr txBox="1"/>
          <p:nvPr/>
        </p:nvSpPr>
        <p:spPr>
          <a:xfrm>
            <a:off x="777240" y="3154680"/>
            <a:ext cx="3931920" cy="1371600"/>
          </a:xfrm>
          <a:prstGeom prst="rect">
            <a:avLst/>
          </a:prstGeom>
          <a:noFill/>
        </p:spPr>
        <p:txBody>
          <a:bodyPr wrap="square" lIns="0" rIns="0" tIns="0" bIns="0" anchor="t">
            <a:spAutoFit/>
          </a:bodyPr>
          <a:lstStyle/>
          <a:p>
            <a:pPr algn="l">
              <a:lnSpc>
                <a:spcPct val="112000"/>
              </a:lnSpc>
              <a:spcAft>
                <a:spcPts val="0"/>
              </a:spcAft>
            </a:pPr>
            <a:r>
              <a:rPr sz="1900" b="0" i="0">
                <a:solidFill>
                  <a:srgbClr val="F2F2F2"/>
                </a:solidFill>
                <a:latin typeface="Poppins Light"/>
              </a:rPr>
              <a:t>of dangerous humid-heat days (703 of 730) were never IMD heatwave days</a:t>
            </a:r>
          </a:p>
        </p:txBody>
      </p:sp>
      <p:sp>
        <p:nvSpPr>
          <p:cNvPr id="7" name="TextBox 6"/>
          <p:cNvSpPr txBox="1"/>
          <p:nvPr/>
        </p:nvSpPr>
        <p:spPr>
          <a:xfrm>
            <a:off x="777240" y="4343400"/>
            <a:ext cx="3931920" cy="1645920"/>
          </a:xfrm>
          <a:prstGeom prst="rect">
            <a:avLst/>
          </a:prstGeom>
          <a:noFill/>
        </p:spPr>
        <p:txBody>
          <a:bodyPr wrap="square" lIns="0" rIns="0" tIns="0" bIns="0" anchor="t">
            <a:spAutoFit/>
          </a:bodyPr>
          <a:lstStyle/>
          <a:p>
            <a:pPr algn="l">
              <a:lnSpc>
                <a:spcPct val="112000"/>
              </a:lnSpc>
              <a:spcAft>
                <a:spcPts val="600"/>
              </a:spcAft>
            </a:pPr>
            <a:r>
              <a:rPr sz="1350" b="0" i="0">
                <a:solidFill>
                  <a:srgbClr val="A8A8A8"/>
                </a:solidFill>
                <a:latin typeface="Poppins Light"/>
              </a:rPr>
              <a:t>Wilson 95% CI 94.7%–97.4%</a:t>
            </a:r>
          </a:p>
          <a:p>
            <a:pPr algn="l">
              <a:lnSpc>
                <a:spcPct val="112000"/>
              </a:lnSpc>
              <a:spcAft>
                <a:spcPts val="600"/>
              </a:spcAft>
            </a:pPr>
            <a:r>
              <a:rPr sz="1350" b="0" i="0">
                <a:solidFill>
                  <a:srgbClr val="A8A8A8"/>
                </a:solidFill>
                <a:latin typeface="Poppins Light"/>
              </a:rPr>
              <a:t>Our rule is more generous than IMD's, so this is a lower bound</a:t>
            </a:r>
          </a:p>
        </p:txBody>
      </p:sp>
      <p:pic>
        <p:nvPicPr>
          <p:cNvPr id="8" name="Picture 7" descr="fig_days_per_year.png"/>
          <p:cNvPicPr>
            <a:picLocks noChangeAspect="1"/>
          </p:cNvPicPr>
          <p:nvPr/>
        </p:nvPicPr>
        <p:blipFill>
          <a:blip r:embed="rId4"/>
          <a:stretch>
            <a:fillRect/>
          </a:stretch>
        </p:blipFill>
        <p:spPr>
          <a:xfrm>
            <a:off x="4895139" y="1417320"/>
            <a:ext cx="6943240" cy="51206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RQ1 · IS IT REAL? THE STATISTICAL EVIDENCE</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0"/>
            <a:ext cx="4480560" cy="4754880"/>
          </a:xfrm>
          <a:prstGeom prst="rect">
            <a:avLst/>
          </a:prstGeom>
          <a:noFill/>
        </p:spPr>
        <p:txBody>
          <a:bodyPr wrap="square" lIns="0" rIns="0" tIns="0" bIns="0" anchor="t">
            <a:spAutoFit/>
          </a:bodyPr>
          <a:lstStyle/>
          <a:p>
            <a:pPr algn="l">
              <a:lnSpc>
                <a:spcPct val="108000"/>
              </a:lnSpc>
              <a:spcAft>
                <a:spcPts val="1100"/>
              </a:spcAft>
            </a:pPr>
            <a:r>
              <a:rPr sz="1450" b="0" i="0">
                <a:solidFill>
                  <a:srgbClr val="E08A3C"/>
                </a:solidFill>
                <a:latin typeface="Poppins"/>
              </a:rPr>
              <a:t>Cohen's κ  </a:t>
            </a:r>
            <a:r>
              <a:rPr sz="1450" b="0" i="0">
                <a:solidFill>
                  <a:srgbClr val="F2F2F2"/>
                </a:solidFill>
                <a:latin typeface="Poppins Light"/>
              </a:rPr>
              <a:t>≈ 0 (at most 0.09): no agreement between the two definitions</a:t>
            </a:r>
          </a:p>
          <a:p>
            <a:pPr algn="l">
              <a:lnSpc>
                <a:spcPct val="108000"/>
              </a:lnSpc>
              <a:spcAft>
                <a:spcPts val="1100"/>
              </a:spcAft>
            </a:pPr>
            <a:r>
              <a:rPr sz="1450" b="0" i="0">
                <a:solidFill>
                  <a:srgbClr val="E08A3C"/>
                </a:solidFill>
                <a:latin typeface="Poppins"/>
              </a:rPr>
              <a:t>McNemar  </a:t>
            </a:r>
            <a:r>
              <a:rPr sz="1450" b="0" i="0">
                <a:solidFill>
                  <a:srgbClr val="F2F2F2"/>
                </a:solidFill>
                <a:latin typeface="Poppins Light"/>
              </a:rPr>
              <a:t>p &lt; 0.05 in every city: the disagreement is systematic</a:t>
            </a:r>
          </a:p>
          <a:p>
            <a:pPr algn="l">
              <a:lnSpc>
                <a:spcPct val="108000"/>
              </a:lnSpc>
              <a:spcAft>
                <a:spcPts val="1100"/>
              </a:spcAft>
            </a:pPr>
            <a:r>
              <a:rPr sz="1450" b="0" i="0">
                <a:solidFill>
                  <a:srgbClr val="E08A3C"/>
                </a:solidFill>
                <a:latin typeface="Poppins"/>
              </a:rPr>
              <a:t>χ² homogeneity  </a:t>
            </a:r>
            <a:r>
              <a:rPr sz="1450" b="0" i="0">
                <a:solidFill>
                  <a:srgbClr val="F2F2F2"/>
                </a:solidFill>
                <a:latin typeface="Poppins Light"/>
              </a:rPr>
              <a:t>p = 0.33: same miss rate in every city</a:t>
            </a:r>
          </a:p>
          <a:p>
            <a:pPr algn="l">
              <a:lnSpc>
                <a:spcPct val="108000"/>
              </a:lnSpc>
              <a:spcAft>
                <a:spcPts val="1100"/>
              </a:spcAft>
            </a:pPr>
            <a:r>
              <a:rPr sz="1450" b="0" i="0">
                <a:solidFill>
                  <a:srgbClr val="E08A3C"/>
                </a:solidFill>
                <a:latin typeface="Poppins"/>
              </a:rPr>
              <a:t>Coastal vs plains  </a:t>
            </a:r>
            <a:r>
              <a:rPr sz="1450" b="0" i="0">
                <a:solidFill>
                  <a:srgbClr val="F2F2F2"/>
                </a:solidFill>
                <a:latin typeface="Poppins Light"/>
              </a:rPr>
              <a:t>p = 0.52: a property of the rule, not the region</a:t>
            </a:r>
          </a:p>
          <a:p>
            <a:pPr algn="l">
              <a:lnSpc>
                <a:spcPct val="108000"/>
              </a:lnSpc>
              <a:spcAft>
                <a:spcPts val="1100"/>
              </a:spcAft>
            </a:pPr>
            <a:r>
              <a:rPr sz="1450" b="0" i="0">
                <a:solidFill>
                  <a:srgbClr val="E08A3C"/>
                </a:solidFill>
                <a:latin typeface="Poppins"/>
              </a:rPr>
              <a:t>Bayesian  </a:t>
            </a:r>
            <a:r>
              <a:rPr sz="1450" b="0" i="0">
                <a:solidFill>
                  <a:srgbClr val="F2F2F2"/>
                </a:solidFill>
                <a:latin typeface="Poppins Light"/>
              </a:rPr>
              <a:t>Beta(1,1) prior: posterior miss rate &gt; 88% in every city</a:t>
            </a:r>
          </a:p>
          <a:p>
            <a:pPr algn="l">
              <a:lnSpc>
                <a:spcPct val="108000"/>
              </a:lnSpc>
              <a:spcAft>
                <a:spcPts val="1100"/>
              </a:spcAft>
            </a:pPr>
            <a:r>
              <a:rPr sz="1450" b="0" i="0">
                <a:solidFill>
                  <a:srgbClr val="E08A3C"/>
                </a:solidFill>
                <a:latin typeface="Poppins"/>
              </a:rPr>
              <a:t>Heat Index  </a:t>
            </a:r>
            <a:r>
              <a:rPr sz="1450" b="0" i="0">
                <a:solidFill>
                  <a:srgbClr val="F2F2F2"/>
                </a:solidFill>
                <a:latin typeface="Poppins Light"/>
              </a:rPr>
              <a:t>IMD's own experimental index was orange/red on 81% of these days</a:t>
            </a:r>
          </a:p>
        </p:txBody>
      </p:sp>
      <p:pic>
        <p:nvPicPr>
          <p:cNvPr id="6" name="Picture 5" descr="fig_sensitivity.png"/>
          <p:cNvPicPr>
            <a:picLocks noChangeAspect="1"/>
          </p:cNvPicPr>
          <p:nvPr/>
        </p:nvPicPr>
        <p:blipFill>
          <a:blip r:embed="rId4"/>
          <a:stretch>
            <a:fillRect/>
          </a:stretch>
        </p:blipFill>
        <p:spPr>
          <a:xfrm>
            <a:off x="5486400" y="1467055"/>
            <a:ext cx="6355080" cy="506688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TWO HAZARDS, TWO SEASONS, TWO GEOGRAPHIES</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season_calendar.png"/>
          <p:cNvPicPr>
            <a:picLocks noChangeAspect="1"/>
          </p:cNvPicPr>
          <p:nvPr/>
        </p:nvPicPr>
        <p:blipFill>
          <a:blip r:embed="rId4"/>
          <a:stretch>
            <a:fillRect/>
          </a:stretch>
        </p:blipFill>
        <p:spPr>
          <a:xfrm>
            <a:off x="640080" y="1509175"/>
            <a:ext cx="10927080" cy="516552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c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WHICH PROBABILITY MODEL FITS?</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distribution_fits.png"/>
          <p:cNvPicPr>
            <a:picLocks noChangeAspect="1"/>
          </p:cNvPicPr>
          <p:nvPr/>
        </p:nvPicPr>
        <p:blipFill>
          <a:blip r:embed="rId4"/>
          <a:stretch>
            <a:fillRect/>
          </a:stretch>
        </p:blipFill>
        <p:spPr>
          <a:xfrm>
            <a:off x="563880" y="1463040"/>
            <a:ext cx="6827519" cy="5120640"/>
          </a:xfrm>
          <a:prstGeom prst="rect">
            <a:avLst/>
          </a:prstGeom>
        </p:spPr>
      </p:pic>
      <p:sp>
        <p:nvSpPr>
          <p:cNvPr id="6" name="TextBox 5"/>
          <p:cNvSpPr txBox="1"/>
          <p:nvPr/>
        </p:nvSpPr>
        <p:spPr>
          <a:xfrm>
            <a:off x="7772400" y="1645920"/>
            <a:ext cx="4023360" cy="4846320"/>
          </a:xfrm>
          <a:prstGeom prst="rect">
            <a:avLst/>
          </a:prstGeom>
          <a:noFill/>
        </p:spPr>
        <p:txBody>
          <a:bodyPr wrap="square" lIns="0" rIns="0" tIns="0" bIns="0" anchor="t">
            <a:spAutoFit/>
          </a:bodyPr>
          <a:lstStyle/>
          <a:p>
            <a:pPr algn="l">
              <a:lnSpc>
                <a:spcPct val="112000"/>
              </a:lnSpc>
              <a:spcAft>
                <a:spcPts val="900"/>
              </a:spcAft>
            </a:pPr>
            <a:r>
              <a:rPr sz="1400" b="0" i="0">
                <a:solidFill>
                  <a:srgbClr val="E08A3C"/>
                </a:solidFill>
                <a:latin typeface="Poppins"/>
              </a:rPr>
              <a:t>Daily wet-bulb (May)</a:t>
            </a:r>
          </a:p>
          <a:p>
            <a:pPr algn="l">
              <a:lnSpc>
                <a:spcPct val="112000"/>
              </a:lnSpc>
              <a:spcAft>
                <a:spcPts val="900"/>
              </a:spcAft>
            </a:pPr>
            <a:r>
              <a:rPr sz="1400" b="0" i="0">
                <a:solidFill>
                  <a:srgbClr val="F2F2F2"/>
                </a:solidFill>
                <a:latin typeface="Poppins Light"/>
              </a:rPr>
              <a:t>MLE fits of Normal, Gamma, Weibull and Lognormal. Best by AIC: Normal 6, Weibull 2, Lognormal 1, Gamma 1.</a:t>
            </a:r>
          </a:p>
          <a:p>
            <a:pPr algn="l">
              <a:lnSpc>
                <a:spcPct val="112000"/>
              </a:lnSpc>
              <a:spcAft>
                <a:spcPts val="900"/>
              </a:spcAft>
            </a:pPr>
            <a:r>
              <a:rPr sz="1400" b="0" i="0">
                <a:solidFill>
                  <a:srgbClr val="F2F2F2"/>
                </a:solidFill>
                <a:latin typeface="Poppins Light"/>
              </a:rPr>
              <a:t>Large Anderson–Darling statistics: the bulk fits, the tail does not, so we model the tail with extreme-value theory.</a:t>
            </a:r>
          </a:p>
          <a:p>
            <a:pPr algn="l">
              <a:lnSpc>
                <a:spcPct val="112000"/>
              </a:lnSpc>
              <a:spcAft>
                <a:spcPts val="900"/>
              </a:spcAft>
            </a:pPr>
            <a:r>
              <a:rPr sz="1400" b="0" i="0">
                <a:solidFill>
                  <a:srgbClr val="E08A3C"/>
                </a:solidFill>
                <a:latin typeface="Poppins"/>
              </a:rPr>
              <a:t>Annual danger-day counts</a:t>
            </a:r>
          </a:p>
          <a:p>
            <a:pPr algn="l">
              <a:lnSpc>
                <a:spcPct val="112000"/>
              </a:lnSpc>
              <a:spcAft>
                <a:spcPts val="900"/>
              </a:spcAft>
            </a:pPr>
            <a:r>
              <a:rPr sz="1400" b="0" i="0">
                <a:solidFill>
                  <a:srgbClr val="F2F2F2"/>
                </a:solidFill>
                <a:latin typeface="Poppins Light"/>
              </a:rPr>
              <a:t>Variance/mean = 2.0–9.0. Dispersion test rejects Poisson (p &lt; 0.001 everywhere); negative binomial wins on AIC and LRT.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RQ2 · IS IT GETTING WORSE?</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trend_counts.png"/>
          <p:cNvPicPr>
            <a:picLocks noChangeAspect="1"/>
          </p:cNvPicPr>
          <p:nvPr/>
        </p:nvPicPr>
        <p:blipFill>
          <a:blip r:embed="rId4"/>
          <a:stretch>
            <a:fillRect/>
          </a:stretch>
        </p:blipFill>
        <p:spPr>
          <a:xfrm>
            <a:off x="658155" y="1417320"/>
            <a:ext cx="10845209" cy="3886200"/>
          </a:xfrm>
          <a:prstGeom prst="rect">
            <a:avLst/>
          </a:prstGeom>
        </p:spPr>
      </p:pic>
      <p:sp>
        <p:nvSpPr>
          <p:cNvPr id="6" name="TextBox 5"/>
          <p:cNvSpPr txBox="1"/>
          <p:nvPr/>
        </p:nvSpPr>
        <p:spPr>
          <a:xfrm>
            <a:off x="777240" y="5120640"/>
            <a:ext cx="356616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×1.54 / decade</a:t>
            </a:r>
          </a:p>
        </p:txBody>
      </p:sp>
      <p:sp>
        <p:nvSpPr>
          <p:cNvPr id="7" name="TextBox 6"/>
          <p:cNvSpPr txBox="1"/>
          <p:nvPr/>
        </p:nvSpPr>
        <p:spPr>
          <a:xfrm>
            <a:off x="777240" y="5870448"/>
            <a:ext cx="35661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danger days, NB GLM, 95% CI 1.34–1.77</a:t>
            </a:r>
          </a:p>
        </p:txBody>
      </p:sp>
      <p:sp>
        <p:nvSpPr>
          <p:cNvPr id="8" name="TextBox 7"/>
          <p:cNvSpPr txBox="1"/>
          <p:nvPr/>
        </p:nvSpPr>
        <p:spPr>
          <a:xfrm>
            <a:off x="4526280" y="5120640"/>
            <a:ext cx="356616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+0.53 °C</a:t>
            </a:r>
          </a:p>
        </p:txBody>
      </p:sp>
      <p:sp>
        <p:nvSpPr>
          <p:cNvPr id="9" name="TextBox 8"/>
          <p:cNvSpPr txBox="1"/>
          <p:nvPr/>
        </p:nvSpPr>
        <p:spPr>
          <a:xfrm>
            <a:off x="4526280" y="5870448"/>
            <a:ext cx="35661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Apr–Jun wet-bulb, 2021–25 vs 1981–90 (Tukey; Friedman p &lt; 0.001)</a:t>
            </a:r>
          </a:p>
        </p:txBody>
      </p:sp>
      <p:sp>
        <p:nvSpPr>
          <p:cNvPr id="10" name="TextBox 9"/>
          <p:cNvSpPr txBox="1"/>
          <p:nvPr/>
        </p:nvSpPr>
        <p:spPr>
          <a:xfrm>
            <a:off x="8275320" y="5120640"/>
            <a:ext cx="356616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0.35 → 2.85</a:t>
            </a:r>
          </a:p>
        </p:txBody>
      </p:sp>
      <p:sp>
        <p:nvSpPr>
          <p:cNvPr id="11" name="TextBox 10"/>
          <p:cNvSpPr txBox="1"/>
          <p:nvPr/>
        </p:nvSpPr>
        <p:spPr>
          <a:xfrm>
            <a:off x="8275320" y="5870448"/>
            <a:ext cx="35661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Chennai danger days/yr, 1981–2000 vs 2006–25 (perm. p = 0.033)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RQ3 · EXTREMES ARE SHIFTING (GEV)</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return_levels.png"/>
          <p:cNvPicPr>
            <a:picLocks noChangeAspect="1"/>
          </p:cNvPicPr>
          <p:nvPr/>
        </p:nvPicPr>
        <p:blipFill>
          <a:blip r:embed="rId4"/>
          <a:stretch>
            <a:fillRect/>
          </a:stretch>
        </p:blipFill>
        <p:spPr>
          <a:xfrm>
            <a:off x="594359" y="1417320"/>
            <a:ext cx="10972800" cy="4023360"/>
          </a:xfrm>
          <a:prstGeom prst="rect">
            <a:avLst/>
          </a:prstGeom>
        </p:spPr>
      </p:pic>
      <p:sp>
        <p:nvSpPr>
          <p:cNvPr id="6" name="TextBox 5"/>
          <p:cNvSpPr txBox="1"/>
          <p:nvPr/>
        </p:nvSpPr>
        <p:spPr>
          <a:xfrm>
            <a:off x="777240" y="5120640"/>
            <a:ext cx="356616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1-in-50 → 1-in-2.6</a:t>
            </a:r>
          </a:p>
        </p:txBody>
      </p:sp>
      <p:sp>
        <p:nvSpPr>
          <p:cNvPr id="7" name="TextBox 6"/>
          <p:cNvSpPr txBox="1"/>
          <p:nvPr/>
        </p:nvSpPr>
        <p:spPr>
          <a:xfrm>
            <a:off x="777240" y="5870448"/>
            <a:ext cx="35661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Chennai: 1985's 50-year humid-heat extreme, under today's climate</a:t>
            </a:r>
          </a:p>
        </p:txBody>
      </p:sp>
      <p:sp>
        <p:nvSpPr>
          <p:cNvPr id="8" name="TextBox 7"/>
          <p:cNvSpPr txBox="1"/>
          <p:nvPr/>
        </p:nvSpPr>
        <p:spPr>
          <a:xfrm>
            <a:off x="4526280" y="5120640"/>
            <a:ext cx="356616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7 of 10 cities</a:t>
            </a:r>
          </a:p>
        </p:txBody>
      </p:sp>
      <p:sp>
        <p:nvSpPr>
          <p:cNvPr id="9" name="TextBox 8"/>
          <p:cNvSpPr txBox="1"/>
          <p:nvPr/>
        </p:nvSpPr>
        <p:spPr>
          <a:xfrm>
            <a:off x="4526280" y="5870448"/>
            <a:ext cx="35661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significant upward shift of the GEV location (LRT p &lt; 0.05)</a:t>
            </a:r>
          </a:p>
        </p:txBody>
      </p:sp>
      <p:sp>
        <p:nvSpPr>
          <p:cNvPr id="10" name="TextBox 9"/>
          <p:cNvSpPr txBox="1"/>
          <p:nvPr/>
        </p:nvSpPr>
        <p:spPr>
          <a:xfrm>
            <a:off x="8275320" y="5120640"/>
            <a:ext cx="356616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35%</a:t>
            </a:r>
          </a:p>
        </p:txBody>
      </p:sp>
      <p:sp>
        <p:nvSpPr>
          <p:cNvPr id="11" name="TextBox 10"/>
          <p:cNvSpPr txBox="1"/>
          <p:nvPr/>
        </p:nvSpPr>
        <p:spPr>
          <a:xfrm>
            <a:off x="8275320" y="5870448"/>
            <a:ext cx="356616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chance Kolkata sees a ≥ 31 °C wet-bulb day in 2026–35 (trend GEV)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RQ4 · DANGER COMES IN SPELLS (MARKOV CHAIN)</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33271" y="2679191"/>
            <a:ext cx="1133856" cy="1133856"/>
          </a:xfrm>
          <a:prstGeom prst="ellipse">
            <a:avLst/>
          </a:prstGeom>
          <a:noFill/>
          <a:ln w="25400">
            <a:solidFill>
              <a:srgbClr val="5B9B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3063239"/>
            <a:ext cx="1133856" cy="365760"/>
          </a:xfrm>
          <a:prstGeom prst="rect">
            <a:avLst/>
          </a:prstGeom>
          <a:noFill/>
        </p:spPr>
        <p:txBody>
          <a:bodyPr wrap="square" lIns="0" rIns="0" tIns="0" bIns="0" anchor="t">
            <a:spAutoFit/>
          </a:bodyPr>
          <a:lstStyle/>
          <a:p>
            <a:pPr algn="ctr">
              <a:lnSpc>
                <a:spcPct val="112000"/>
              </a:lnSpc>
              <a:spcAft>
                <a:spcPts val="0"/>
              </a:spcAft>
            </a:pPr>
            <a:r>
              <a:rPr sz="1300" b="0" i="0">
                <a:solidFill>
                  <a:srgbClr val="5B9BE6"/>
                </a:solidFill>
                <a:latin typeface="Poppins"/>
              </a:rPr>
              <a:t>CALM</a:t>
            </a:r>
          </a:p>
        </p:txBody>
      </p:sp>
      <p:sp>
        <p:nvSpPr>
          <p:cNvPr id="7" name="Oval 6"/>
          <p:cNvSpPr/>
          <p:nvPr/>
        </p:nvSpPr>
        <p:spPr>
          <a:xfrm>
            <a:off x="3593591" y="2679191"/>
            <a:ext cx="1133856" cy="1133856"/>
          </a:xfrm>
          <a:prstGeom prst="ellipse">
            <a:avLst/>
          </a:prstGeom>
          <a:noFill/>
          <a:ln w="25400">
            <a:solidFill>
              <a:srgbClr val="E08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1" y="3063239"/>
            <a:ext cx="1133856" cy="365760"/>
          </a:xfrm>
          <a:prstGeom prst="rect">
            <a:avLst/>
          </a:prstGeom>
          <a:noFill/>
        </p:spPr>
        <p:txBody>
          <a:bodyPr wrap="square" lIns="0" rIns="0" tIns="0" bIns="0" anchor="t">
            <a:spAutoFit/>
          </a:bodyPr>
          <a:lstStyle/>
          <a:p>
            <a:pPr algn="ctr">
              <a:lnSpc>
                <a:spcPct val="112000"/>
              </a:lnSpc>
              <a:spcAft>
                <a:spcPts val="0"/>
              </a:spcAft>
            </a:pPr>
            <a:r>
              <a:rPr sz="1300" b="0" i="0">
                <a:solidFill>
                  <a:srgbClr val="E08A3C"/>
                </a:solidFill>
                <a:latin typeface="Poppins"/>
              </a:rPr>
              <a:t>DANGER</a:t>
            </a:r>
          </a:p>
        </p:txBody>
      </p:sp>
      <p:cxnSp>
        <p:nvCxnSpPr>
          <p:cNvPr id="9" name="Connector 8"/>
          <p:cNvCxnSpPr/>
          <p:nvPr/>
        </p:nvCxnSpPr>
        <p:spPr>
          <a:xfrm>
            <a:off x="2167128" y="3044951"/>
            <a:ext cx="1426463" cy="0"/>
          </a:xfrm>
          <a:prstGeom prst="line">
            <a:avLst/>
          </a:prstGeom>
          <a:ln w="15875">
            <a:solidFill>
              <a:srgbClr val="F2F2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2167128" y="3447288"/>
            <a:ext cx="1426463" cy="0"/>
          </a:xfrm>
          <a:prstGeom prst="line">
            <a:avLst/>
          </a:prstGeom>
          <a:ln w="15875">
            <a:solidFill>
              <a:srgbClr val="F2F2F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194560" y="2679191"/>
            <a:ext cx="1371600" cy="320040"/>
          </a:xfrm>
          <a:prstGeom prst="rect">
            <a:avLst/>
          </a:prstGeom>
          <a:noFill/>
        </p:spPr>
        <p:txBody>
          <a:bodyPr wrap="square" lIns="0" rIns="0" tIns="0" bIns="0" anchor="t">
            <a:spAutoFit/>
          </a:bodyPr>
          <a:lstStyle/>
          <a:p>
            <a:pPr algn="ctr">
              <a:lnSpc>
                <a:spcPct val="112000"/>
              </a:lnSpc>
              <a:spcAft>
                <a:spcPts val="0"/>
              </a:spcAft>
            </a:pPr>
            <a:r>
              <a:rPr sz="1300" b="0" i="0">
                <a:solidFill>
                  <a:srgbClr val="F2F2F2"/>
                </a:solidFill>
                <a:latin typeface="Poppins Light"/>
              </a:rPr>
              <a:t>0.047</a:t>
            </a:r>
          </a:p>
        </p:txBody>
      </p:sp>
      <p:sp>
        <p:nvSpPr>
          <p:cNvPr id="12" name="TextBox 11"/>
          <p:cNvSpPr txBox="1"/>
          <p:nvPr/>
        </p:nvSpPr>
        <p:spPr>
          <a:xfrm>
            <a:off x="2194560" y="3520439"/>
            <a:ext cx="1371600" cy="320040"/>
          </a:xfrm>
          <a:prstGeom prst="rect">
            <a:avLst/>
          </a:prstGeom>
          <a:noFill/>
        </p:spPr>
        <p:txBody>
          <a:bodyPr wrap="square" lIns="0" rIns="0" tIns="0" bIns="0" anchor="t">
            <a:spAutoFit/>
          </a:bodyPr>
          <a:lstStyle/>
          <a:p>
            <a:pPr algn="ctr">
              <a:lnSpc>
                <a:spcPct val="112000"/>
              </a:lnSpc>
              <a:spcAft>
                <a:spcPts val="0"/>
              </a:spcAft>
            </a:pPr>
            <a:r>
              <a:rPr sz="1300" b="0" i="0">
                <a:solidFill>
                  <a:srgbClr val="F2F2F2"/>
                </a:solidFill>
                <a:latin typeface="Poppins Light"/>
              </a:rPr>
              <a:t>0.432</a:t>
            </a:r>
          </a:p>
        </p:txBody>
      </p:sp>
      <p:sp>
        <p:nvSpPr>
          <p:cNvPr id="13" name="TextBox 12"/>
          <p:cNvSpPr txBox="1"/>
          <p:nvPr/>
        </p:nvSpPr>
        <p:spPr>
          <a:xfrm>
            <a:off x="914400" y="2194560"/>
            <a:ext cx="1371600" cy="320040"/>
          </a:xfrm>
          <a:prstGeom prst="rect">
            <a:avLst/>
          </a:prstGeom>
          <a:noFill/>
        </p:spPr>
        <p:txBody>
          <a:bodyPr wrap="square" lIns="0" rIns="0" tIns="0" bIns="0" anchor="t">
            <a:spAutoFit/>
          </a:bodyPr>
          <a:lstStyle/>
          <a:p>
            <a:pPr algn="ctr">
              <a:lnSpc>
                <a:spcPct val="112000"/>
              </a:lnSpc>
              <a:spcAft>
                <a:spcPts val="0"/>
              </a:spcAft>
            </a:pPr>
            <a:r>
              <a:rPr sz="1200" b="0" i="0">
                <a:solidFill>
                  <a:srgbClr val="A8A8A8"/>
                </a:solidFill>
                <a:latin typeface="Poppins Light"/>
              </a:rPr>
              <a:t>stay 0.953</a:t>
            </a:r>
          </a:p>
        </p:txBody>
      </p:sp>
      <p:sp>
        <p:nvSpPr>
          <p:cNvPr id="14" name="TextBox 13"/>
          <p:cNvSpPr txBox="1"/>
          <p:nvPr/>
        </p:nvSpPr>
        <p:spPr>
          <a:xfrm>
            <a:off x="3474720" y="2194560"/>
            <a:ext cx="1371600" cy="320040"/>
          </a:xfrm>
          <a:prstGeom prst="rect">
            <a:avLst/>
          </a:prstGeom>
          <a:noFill/>
        </p:spPr>
        <p:txBody>
          <a:bodyPr wrap="square" lIns="0" rIns="0" tIns="0" bIns="0" anchor="t">
            <a:spAutoFit/>
          </a:bodyPr>
          <a:lstStyle/>
          <a:p>
            <a:pPr algn="ctr">
              <a:lnSpc>
                <a:spcPct val="112000"/>
              </a:lnSpc>
              <a:spcAft>
                <a:spcPts val="0"/>
              </a:spcAft>
            </a:pPr>
            <a:r>
              <a:rPr sz="1200" b="0" i="0">
                <a:solidFill>
                  <a:srgbClr val="A8A8A8"/>
                </a:solidFill>
                <a:latin typeface="Poppins Light"/>
              </a:rPr>
              <a:t>stay 0.568</a:t>
            </a:r>
          </a:p>
        </p:txBody>
      </p:sp>
      <p:sp>
        <p:nvSpPr>
          <p:cNvPr id="15" name="TextBox 14"/>
          <p:cNvSpPr txBox="1"/>
          <p:nvPr/>
        </p:nvSpPr>
        <p:spPr>
          <a:xfrm>
            <a:off x="777240" y="1600200"/>
            <a:ext cx="4572000" cy="365760"/>
          </a:xfrm>
          <a:prstGeom prst="rect">
            <a:avLst/>
          </a:prstGeom>
          <a:noFill/>
        </p:spPr>
        <p:txBody>
          <a:bodyPr wrap="square" lIns="0" rIns="0" tIns="0" bIns="0" anchor="t">
            <a:spAutoFit/>
          </a:bodyPr>
          <a:lstStyle/>
          <a:p>
            <a:pPr algn="l">
              <a:lnSpc>
                <a:spcPct val="112000"/>
              </a:lnSpc>
              <a:spcAft>
                <a:spcPts val="0"/>
              </a:spcAft>
            </a:pPr>
            <a:r>
              <a:rPr sz="1300" b="0" i="0">
                <a:solidFill>
                  <a:srgbClr val="A8A8A8"/>
                </a:solidFill>
                <a:latin typeface="Poppins Light"/>
              </a:rPr>
              <a:t>Kolkata, peak season (5 May – 4 Jul)</a:t>
            </a:r>
          </a:p>
        </p:txBody>
      </p:sp>
      <p:sp>
        <p:nvSpPr>
          <p:cNvPr id="16" name="TextBox 15"/>
          <p:cNvSpPr txBox="1"/>
          <p:nvPr/>
        </p:nvSpPr>
        <p:spPr>
          <a:xfrm>
            <a:off x="777240" y="4251960"/>
            <a:ext cx="4663440" cy="2286000"/>
          </a:xfrm>
          <a:prstGeom prst="rect">
            <a:avLst/>
          </a:prstGeom>
          <a:noFill/>
        </p:spPr>
        <p:txBody>
          <a:bodyPr wrap="square" lIns="0" rIns="0" tIns="0" bIns="0" anchor="t">
            <a:spAutoFit/>
          </a:bodyPr>
          <a:lstStyle/>
          <a:p>
            <a:pPr algn="l">
              <a:lnSpc>
                <a:spcPct val="112000"/>
              </a:lnSpc>
              <a:spcAft>
                <a:spcPts val="800"/>
              </a:spcAft>
            </a:pPr>
            <a:r>
              <a:rPr sz="1350" b="0" i="0">
                <a:solidFill>
                  <a:srgbClr val="F2F2F2"/>
                </a:solidFill>
                <a:latin typeface="Poppins"/>
              </a:rPr>
              <a:t>Independence rejected: </a:t>
            </a:r>
            <a:r>
              <a:rPr sz="1350" b="0" i="0">
                <a:solidFill>
                  <a:srgbClr val="F2F2F2"/>
                </a:solidFill>
                <a:latin typeface="Poppins Light"/>
              </a:rPr>
              <a:t>χ² and G² p &lt; 0.001; persistence odds ratio 27–41</a:t>
            </a:r>
          </a:p>
          <a:p>
            <a:pPr algn="l">
              <a:lnSpc>
                <a:spcPct val="112000"/>
              </a:lnSpc>
              <a:spcAft>
                <a:spcPts val="800"/>
              </a:spcAft>
            </a:pPr>
            <a:r>
              <a:rPr sz="1350" b="0" i="0">
                <a:solidFill>
                  <a:srgbClr val="F2F2F2"/>
                </a:solidFill>
                <a:latin typeface="Poppins"/>
              </a:rPr>
              <a:t>Spells are geometric: </a:t>
            </a:r>
            <a:r>
              <a:rPr sz="1350" b="0" i="0">
                <a:solidFill>
                  <a:srgbClr val="F2F2F2"/>
                </a:solidFill>
                <a:latin typeface="Poppins Light"/>
              </a:rPr>
              <a:t>mean = 1/(1 − p₁₁); goodness-of-fit p = 0.10–0.67</a:t>
            </a:r>
          </a:p>
          <a:p>
            <a:pPr algn="l">
              <a:lnSpc>
                <a:spcPct val="112000"/>
              </a:lnSpc>
              <a:spcAft>
                <a:spcPts val="800"/>
              </a:spcAft>
            </a:pPr>
            <a:r>
              <a:rPr sz="1350" b="0" i="0">
                <a:solidFill>
                  <a:srgbClr val="F2F2F2"/>
                </a:solidFill>
                <a:latin typeface="Poppins"/>
              </a:rPr>
              <a:t>Monte Carlo, 10,000 seasons/era: </a:t>
            </a:r>
            <a:r>
              <a:rPr sz="1350" b="0" i="0">
                <a:solidFill>
                  <a:srgbClr val="F2F2F2"/>
                </a:solidFill>
                <a:latin typeface="Poppins Light"/>
              </a:rPr>
              <a:t>P(≥ 3-day spell) in Chennai 2% → 23%, in Kolkata 49% → 68%</a:t>
            </a:r>
          </a:p>
        </p:txBody>
      </p:sp>
      <p:pic>
        <p:nvPicPr>
          <p:cNvPr id="17" name="Picture 16" descr="fig_markov_montecarlo.png"/>
          <p:cNvPicPr>
            <a:picLocks noChangeAspect="1"/>
          </p:cNvPicPr>
          <p:nvPr/>
        </p:nvPicPr>
        <p:blipFill>
          <a:blip r:embed="rId4"/>
          <a:stretch>
            <a:fillRect/>
          </a:stretch>
        </p:blipFill>
        <p:spPr>
          <a:xfrm>
            <a:off x="5623560" y="1603465"/>
            <a:ext cx="6263639" cy="447402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RQ5 · A CALIBRATED NEXT-DAY WARNING</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early_warning.png"/>
          <p:cNvPicPr>
            <a:picLocks noChangeAspect="1"/>
          </p:cNvPicPr>
          <p:nvPr/>
        </p:nvPicPr>
        <p:blipFill>
          <a:blip r:embed="rId4"/>
          <a:stretch>
            <a:fillRect/>
          </a:stretch>
        </p:blipFill>
        <p:spPr>
          <a:xfrm>
            <a:off x="515721" y="1463040"/>
            <a:ext cx="7563916" cy="4023360"/>
          </a:xfrm>
          <a:prstGeom prst="rect">
            <a:avLst/>
          </a:prstGeom>
        </p:spPr>
      </p:pic>
      <p:sp>
        <p:nvSpPr>
          <p:cNvPr id="6" name="TextBox 5"/>
          <p:cNvSpPr txBox="1"/>
          <p:nvPr/>
        </p:nvSpPr>
        <p:spPr>
          <a:xfrm>
            <a:off x="8412480" y="155448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AUC 0.92</a:t>
            </a:r>
          </a:p>
        </p:txBody>
      </p:sp>
      <p:sp>
        <p:nvSpPr>
          <p:cNvPr id="7" name="TextBox 6"/>
          <p:cNvSpPr txBox="1"/>
          <p:nvPr/>
        </p:nvSpPr>
        <p:spPr>
          <a:xfrm>
            <a:off x="8412480" y="230428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logistic model vs 0.61 for the IMD-rule state (test years 2015–25)</a:t>
            </a:r>
          </a:p>
        </p:txBody>
      </p:sp>
      <p:sp>
        <p:nvSpPr>
          <p:cNvPr id="8" name="TextBox 7"/>
          <p:cNvSpPr txBox="1"/>
          <p:nvPr/>
        </p:nvSpPr>
        <p:spPr>
          <a:xfrm>
            <a:off x="8412480" y="306324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+17%</a:t>
            </a:r>
          </a:p>
        </p:txBody>
      </p:sp>
      <p:sp>
        <p:nvSpPr>
          <p:cNvPr id="9" name="TextBox 8"/>
          <p:cNvSpPr txBox="1"/>
          <p:nvPr/>
        </p:nvSpPr>
        <p:spPr>
          <a:xfrm>
            <a:off x="8412480" y="381304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Brier skill over climatology</a:t>
            </a:r>
          </a:p>
        </p:txBody>
      </p:sp>
      <p:sp>
        <p:nvSpPr>
          <p:cNvPr id="10" name="TextBox 9"/>
          <p:cNvSpPr txBox="1"/>
          <p:nvPr/>
        </p:nvSpPr>
        <p:spPr>
          <a:xfrm>
            <a:off x="8412480" y="457200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4%</a:t>
            </a:r>
          </a:p>
        </p:txBody>
      </p:sp>
      <p:sp>
        <p:nvSpPr>
          <p:cNvPr id="11" name="TextBox 10"/>
          <p:cNvSpPr txBox="1"/>
          <p:nvPr/>
        </p:nvSpPr>
        <p:spPr>
          <a:xfrm>
            <a:off x="8412480" y="532180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of next-day danger days caught by 'IMD heatwave today'</a:t>
            </a:r>
          </a:p>
        </p:txBody>
      </p:sp>
      <p:sp>
        <p:nvSpPr>
          <p:cNvPr id="12" name="TextBox 11"/>
          <p:cNvSpPr txBox="1"/>
          <p:nvPr/>
        </p:nvSpPr>
        <p:spPr>
          <a:xfrm>
            <a:off x="777240" y="5760720"/>
            <a:ext cx="7315200" cy="731520"/>
          </a:xfrm>
          <a:prstGeom prst="rect">
            <a:avLst/>
          </a:prstGeom>
          <a:noFill/>
        </p:spPr>
        <p:txBody>
          <a:bodyPr wrap="square" lIns="0" rIns="0" tIns="0" bIns="0" anchor="t">
            <a:spAutoFit/>
          </a:bodyPr>
          <a:lstStyle/>
          <a:p>
            <a:pPr algn="l">
              <a:lnSpc>
                <a:spcPct val="112000"/>
              </a:lnSpc>
              <a:spcAft>
                <a:spcPts val="0"/>
              </a:spcAft>
            </a:pPr>
            <a:r>
              <a:rPr sz="1400" b="0" i="0">
                <a:solidFill>
                  <a:srgbClr val="A8A8A8"/>
                </a:solidFill>
                <a:latin typeface="Poppins Light"/>
              </a:rPr>
              <a:t>Each +1 °C of today's wet-bulb multiplies tomorrow's odds of danger by 11.3 (95% CI 7.5–17.1).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c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RQ6 · BASELINE ML, AND WHAT IS NEW</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91640"/>
            <a:ext cx="5120640" cy="4572000"/>
          </a:xfrm>
          <a:prstGeom prst="rect">
            <a:avLst/>
          </a:prstGeom>
          <a:noFill/>
        </p:spPr>
        <p:txBody>
          <a:bodyPr wrap="square" lIns="0" rIns="0" tIns="0" bIns="0" anchor="t">
            <a:spAutoFit/>
          </a:bodyPr>
          <a:lstStyle/>
          <a:p>
            <a:pPr algn="l">
              <a:lnSpc>
                <a:spcPct val="112000"/>
              </a:lnSpc>
              <a:spcAft>
                <a:spcPts val="1000"/>
              </a:spcAft>
            </a:pPr>
            <a:r>
              <a:rPr sz="1450" b="0" i="0">
                <a:solidFill>
                  <a:srgbClr val="E08A3C"/>
                </a:solidFill>
                <a:latin typeface="Poppins"/>
              </a:rPr>
              <a:t>Set-up</a:t>
            </a:r>
          </a:p>
          <a:p>
            <a:pPr algn="l">
              <a:lnSpc>
                <a:spcPct val="112000"/>
              </a:lnSpc>
              <a:spcAft>
                <a:spcPts val="1000"/>
              </a:spcAft>
            </a:pPr>
            <a:r>
              <a:rPr sz="1450" b="0" i="0">
                <a:solidFill>
                  <a:srgbClr val="F2F2F2"/>
                </a:solidFill>
                <a:latin typeface="Poppins Light"/>
              </a:rPr>
              <a:t>Target: will the day +1, +2 or +3 ahead be a danger day (wet-bulb ≥ 29 °C)?</a:t>
            </a:r>
          </a:p>
          <a:p>
            <a:pPr algn="l">
              <a:lnSpc>
                <a:spcPct val="112000"/>
              </a:lnSpc>
              <a:spcAft>
                <a:spcPts val="1000"/>
              </a:spcAft>
            </a:pPr>
            <a:r>
              <a:rPr sz="1450" b="0" i="0">
                <a:solidFill>
                  <a:srgbClr val="F2F2F2"/>
                </a:solidFill>
                <a:latin typeface="Poppins Light"/>
              </a:rPr>
              <a:t>Baselines: climatology, IMD rule, logistic regression, decision tree (rpart), random forest (ranger, 400 trees)</a:t>
            </a:r>
          </a:p>
          <a:p>
            <a:pPr algn="l">
              <a:lnSpc>
                <a:spcPct val="112000"/>
              </a:lnSpc>
              <a:spcAft>
                <a:spcPts val="1000"/>
              </a:spcAft>
            </a:pPr>
            <a:r>
              <a:rPr sz="1450" b="0" i="0">
                <a:solidFill>
                  <a:srgbClr val="F2F2F2"/>
                </a:solidFill>
                <a:latin typeface="Poppins Light"/>
              </a:rPr>
              <a:t>24 features: today's weather, 3–7-day wet-bulb history, season, city</a:t>
            </a:r>
          </a:p>
          <a:p>
            <a:pPr algn="l">
              <a:lnSpc>
                <a:spcPct val="112000"/>
              </a:lnSpc>
              <a:spcAft>
                <a:spcPts val="1000"/>
              </a:spcAft>
            </a:pPr>
            <a:r>
              <a:rPr sz="1450" b="0" i="0">
                <a:solidFill>
                  <a:srgbClr val="F2F2F2"/>
                </a:solidFill>
                <a:latin typeface="Poppins Light"/>
              </a:rPr>
              <a:t>Train 1981–2014 · alert thresholds tuned on 2010–14 · test 2015–25, never seen</a:t>
            </a:r>
          </a:p>
        </p:txBody>
      </p:sp>
      <p:sp>
        <p:nvSpPr>
          <p:cNvPr id="6" name="TextBox 5"/>
          <p:cNvSpPr txBox="1"/>
          <p:nvPr/>
        </p:nvSpPr>
        <p:spPr>
          <a:xfrm>
            <a:off x="6263640" y="1691640"/>
            <a:ext cx="5120640" cy="457200"/>
          </a:xfrm>
          <a:prstGeom prst="rect">
            <a:avLst/>
          </a:prstGeom>
          <a:noFill/>
        </p:spPr>
        <p:txBody>
          <a:bodyPr wrap="square" lIns="0" rIns="0" tIns="0" bIns="0" anchor="t">
            <a:spAutoFit/>
          </a:bodyPr>
          <a:lstStyle/>
          <a:p>
            <a:pPr algn="l">
              <a:lnSpc>
                <a:spcPct val="112000"/>
              </a:lnSpc>
              <a:spcAft>
                <a:spcPts val="0"/>
              </a:spcAft>
            </a:pPr>
            <a:r>
              <a:rPr sz="1450" b="0" i="0">
                <a:solidFill>
                  <a:srgbClr val="E08A3C"/>
                </a:solidFill>
                <a:latin typeface="Poppins"/>
              </a:rPr>
              <a:t>What is new</a:t>
            </a:r>
          </a:p>
        </p:txBody>
      </p:sp>
      <p:sp>
        <p:nvSpPr>
          <p:cNvPr id="7" name="Rectangle 6"/>
          <p:cNvSpPr/>
          <p:nvPr/>
        </p:nvSpPr>
        <p:spPr>
          <a:xfrm>
            <a:off x="6263640" y="2240280"/>
            <a:ext cx="5120640" cy="1097280"/>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E08A3C"/>
                </a:solidFill>
                <a:latin typeface="Poppins"/>
              </a:rPr>
              <a:t>Physiology-informed features</a:t>
            </a:r>
          </a:p>
          <a:p>
            <a:pPr algn="ctr">
              <a:lnSpc>
                <a:spcPct val="100000"/>
              </a:lnSpc>
            </a:pPr>
            <a:r>
              <a:rPr sz="1300">
                <a:solidFill>
                  <a:srgbClr val="A8A8A8"/>
                </a:solidFill>
                <a:latin typeface="Poppins Light"/>
              </a:rPr>
              <a:t>headroom to the 29 °C limit · closing speed · days-to-limit</a:t>
            </a:r>
          </a:p>
        </p:txBody>
      </p:sp>
      <p:sp>
        <p:nvSpPr>
          <p:cNvPr id="8" name="Rectangle 7"/>
          <p:cNvSpPr/>
          <p:nvPr/>
        </p:nvSpPr>
        <p:spPr>
          <a:xfrm>
            <a:off x="6263640" y="3520440"/>
            <a:ext cx="5120640" cy="1097280"/>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E08A3C"/>
                </a:solidFill>
                <a:latin typeface="Poppins"/>
              </a:rPr>
              <a:t>Hybrid alert, not a replacement</a:t>
            </a:r>
          </a:p>
          <a:p>
            <a:pPr algn="ctr">
              <a:lnSpc>
                <a:spcPct val="100000"/>
              </a:lnSpc>
            </a:pPr>
            <a:r>
              <a:rPr sz="1300">
                <a:solidFill>
                  <a:srgbClr val="A8A8A8"/>
                </a:solidFill>
                <a:latin typeface="Poppins Light"/>
              </a:rPr>
              <a:t>IMD rule OR ML layer, scored on blind-spot recovery</a:t>
            </a:r>
          </a:p>
        </p:txBody>
      </p:sp>
      <p:sp>
        <p:nvSpPr>
          <p:cNvPr id="9" name="Rectangle 8"/>
          <p:cNvSpPr/>
          <p:nvPr/>
        </p:nvSpPr>
        <p:spPr>
          <a:xfrm>
            <a:off x="6263640" y="4800600"/>
            <a:ext cx="5120640" cy="1097280"/>
          </a:xfrm>
          <a:prstGeom prst="rect">
            <a:avLst/>
          </a:prstGeom>
          <a:solidFill>
            <a:srgbClr val="262626"/>
          </a:solidFill>
          <a:ln w="15875">
            <a:solidFill>
              <a:srgbClr val="F2F2F2"/>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pPr>
            <a:r>
              <a:rPr sz="1700">
                <a:solidFill>
                  <a:srgbClr val="E08A3C"/>
                </a:solidFill>
                <a:latin typeface="Poppins"/>
              </a:rPr>
              <a:t>Zero-history cities</a:t>
            </a:r>
          </a:p>
          <a:p>
            <a:pPr algn="ctr">
              <a:lnSpc>
                <a:spcPct val="100000"/>
              </a:lnSpc>
            </a:pPr>
            <a:r>
              <a:rPr sz="1300">
                <a:solidFill>
                  <a:srgbClr val="A8A8A8"/>
                </a:solidFill>
                <a:latin typeface="Poppins Light"/>
              </a:rPr>
              <a:t>leave-one-city-out: warn where no labelled past exists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a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RQ6 · RANDOM FOREST LEADS AT EVERY LEAD TIME</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ml_models.png"/>
          <p:cNvPicPr>
            <a:picLocks noChangeAspect="1"/>
          </p:cNvPicPr>
          <p:nvPr/>
        </p:nvPicPr>
        <p:blipFill>
          <a:blip r:embed="rId4"/>
          <a:stretch>
            <a:fillRect/>
          </a:stretch>
        </p:blipFill>
        <p:spPr>
          <a:xfrm>
            <a:off x="515721" y="1463040"/>
            <a:ext cx="7563916" cy="4023360"/>
          </a:xfrm>
          <a:prstGeom prst="rect">
            <a:avLst/>
          </a:prstGeom>
        </p:spPr>
      </p:pic>
      <p:sp>
        <p:nvSpPr>
          <p:cNvPr id="6" name="TextBox 5"/>
          <p:cNvSpPr txBox="1"/>
          <p:nvPr/>
        </p:nvSpPr>
        <p:spPr>
          <a:xfrm>
            <a:off x="8412480" y="155448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AUC 0.95</a:t>
            </a:r>
          </a:p>
        </p:txBody>
      </p:sp>
      <p:sp>
        <p:nvSpPr>
          <p:cNvPr id="7" name="TextBox 6"/>
          <p:cNvSpPr txBox="1"/>
          <p:nvPr/>
        </p:nvSpPr>
        <p:spPr>
          <a:xfrm>
            <a:off x="8412480" y="230428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random forest, +1 day (logistic 0.92, IMD rule 0.61)</a:t>
            </a:r>
          </a:p>
        </p:txBody>
      </p:sp>
      <p:sp>
        <p:nvSpPr>
          <p:cNvPr id="8" name="TextBox 7"/>
          <p:cNvSpPr txBox="1"/>
          <p:nvPr/>
        </p:nvSpPr>
        <p:spPr>
          <a:xfrm>
            <a:off x="8412480" y="306324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AUC 0.89</a:t>
            </a:r>
          </a:p>
        </p:txBody>
      </p:sp>
      <p:sp>
        <p:nvSpPr>
          <p:cNvPr id="9" name="TextBox 8"/>
          <p:cNvSpPr txBox="1"/>
          <p:nvPr/>
        </p:nvSpPr>
        <p:spPr>
          <a:xfrm>
            <a:off x="8412480" y="381304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still at +3 days, vs 0.82 for climatology</a:t>
            </a:r>
          </a:p>
        </p:txBody>
      </p:sp>
      <p:sp>
        <p:nvSpPr>
          <p:cNvPr id="10" name="TextBox 9"/>
          <p:cNvSpPr txBox="1"/>
          <p:nvPr/>
        </p:nvSpPr>
        <p:spPr>
          <a:xfrm>
            <a:off x="8412480" y="457200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+22%</a:t>
            </a:r>
          </a:p>
        </p:txBody>
      </p:sp>
      <p:sp>
        <p:nvSpPr>
          <p:cNvPr id="11" name="TextBox 10"/>
          <p:cNvSpPr txBox="1"/>
          <p:nvPr/>
        </p:nvSpPr>
        <p:spPr>
          <a:xfrm>
            <a:off x="8412480" y="532180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Brier skill over climatology, +1 day</a:t>
            </a:r>
          </a:p>
        </p:txBody>
      </p:sp>
      <p:sp>
        <p:nvSpPr>
          <p:cNvPr id="12" name="TextBox 11"/>
          <p:cNvSpPr txBox="1"/>
          <p:nvPr/>
        </p:nvSpPr>
        <p:spPr>
          <a:xfrm>
            <a:off x="777240" y="5760720"/>
            <a:ext cx="7315200" cy="731520"/>
          </a:xfrm>
          <a:prstGeom prst="rect">
            <a:avLst/>
          </a:prstGeom>
          <a:noFill/>
        </p:spPr>
        <p:txBody>
          <a:bodyPr wrap="square" lIns="0" rIns="0" tIns="0" bIns="0" anchor="t">
            <a:spAutoFit/>
          </a:bodyPr>
          <a:lstStyle/>
          <a:p>
            <a:pPr algn="l">
              <a:lnSpc>
                <a:spcPct val="112000"/>
              </a:lnSpc>
              <a:spcAft>
                <a:spcPts val="0"/>
              </a:spcAft>
            </a:pPr>
            <a:r>
              <a:rPr sz="1400" b="0" i="0">
                <a:solidFill>
                  <a:srgbClr val="A8A8A8"/>
                </a:solidFill>
                <a:latin typeface="Poppins Light"/>
              </a:rPr>
              <a:t>Headroom to the physiological limit ranks #5 of 24 features. One tree is the weakest model; a forest of 400 fixes its variance.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NOVELTY · CLOSING THE BLIND SPOT, ANYWHERE</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ml_hybrid_transfer.png"/>
          <p:cNvPicPr>
            <a:picLocks noChangeAspect="1"/>
          </p:cNvPicPr>
          <p:nvPr/>
        </p:nvPicPr>
        <p:blipFill>
          <a:blip r:embed="rId4"/>
          <a:stretch>
            <a:fillRect/>
          </a:stretch>
        </p:blipFill>
        <p:spPr>
          <a:xfrm>
            <a:off x="515721" y="1463040"/>
            <a:ext cx="7563916" cy="4023360"/>
          </a:xfrm>
          <a:prstGeom prst="rect">
            <a:avLst/>
          </a:prstGeom>
        </p:spPr>
      </p:pic>
      <p:sp>
        <p:nvSpPr>
          <p:cNvPr id="6" name="TextBox 5"/>
          <p:cNvSpPr txBox="1"/>
          <p:nvPr/>
        </p:nvSpPr>
        <p:spPr>
          <a:xfrm>
            <a:off x="8412480" y="155448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45%</a:t>
            </a:r>
          </a:p>
        </p:txBody>
      </p:sp>
      <p:sp>
        <p:nvSpPr>
          <p:cNvPr id="7" name="TextBox 6"/>
          <p:cNvSpPr txBox="1"/>
          <p:nvPr/>
        </p:nvSpPr>
        <p:spPr>
          <a:xfrm>
            <a:off x="8412480" y="230428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of the blind spot recovered by the hybrid alert (IMD rule alone: 1%)</a:t>
            </a:r>
          </a:p>
        </p:txBody>
      </p:sp>
      <p:sp>
        <p:nvSpPr>
          <p:cNvPr id="8" name="TextBox 7"/>
          <p:cNvSpPr txBox="1"/>
          <p:nvPr/>
        </p:nvSpPr>
        <p:spPr>
          <a:xfrm>
            <a:off x="8412480" y="306324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47%</a:t>
            </a:r>
          </a:p>
        </p:txBody>
      </p:sp>
      <p:sp>
        <p:nvSpPr>
          <p:cNvPr id="9" name="TextBox 8"/>
          <p:cNvSpPr txBox="1"/>
          <p:nvPr/>
        </p:nvSpPr>
        <p:spPr>
          <a:xfrm>
            <a:off x="8412480" y="381304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of next-day danger days caught (IMD rule: 4%)</a:t>
            </a:r>
          </a:p>
        </p:txBody>
      </p:sp>
      <p:sp>
        <p:nvSpPr>
          <p:cNvPr id="10" name="TextBox 9"/>
          <p:cNvSpPr txBox="1"/>
          <p:nvPr/>
        </p:nvSpPr>
        <p:spPr>
          <a:xfrm>
            <a:off x="8412480" y="4572000"/>
            <a:ext cx="3474720" cy="685800"/>
          </a:xfrm>
          <a:prstGeom prst="rect">
            <a:avLst/>
          </a:prstGeom>
          <a:noFill/>
        </p:spPr>
        <p:txBody>
          <a:bodyPr wrap="square" lIns="0" rIns="0" tIns="0" bIns="0" anchor="b">
            <a:spAutoFit/>
          </a:bodyPr>
          <a:lstStyle/>
          <a:p>
            <a:pPr algn="l">
              <a:lnSpc>
                <a:spcPct val="112000"/>
              </a:lnSpc>
              <a:spcAft>
                <a:spcPts val="0"/>
              </a:spcAft>
            </a:pPr>
            <a:r>
              <a:rPr sz="2800" b="0" i="0">
                <a:solidFill>
                  <a:srgbClr val="E08A3C"/>
                </a:solidFill>
                <a:latin typeface="Poppins Light"/>
              </a:rPr>
              <a:t>0.93 / 0.94</a:t>
            </a:r>
          </a:p>
        </p:txBody>
      </p:sp>
      <p:sp>
        <p:nvSpPr>
          <p:cNvPr id="11" name="TextBox 10"/>
          <p:cNvSpPr txBox="1"/>
          <p:nvPr/>
        </p:nvSpPr>
        <p:spPr>
          <a:xfrm>
            <a:off x="8412480" y="5321808"/>
            <a:ext cx="3474720" cy="822960"/>
          </a:xfrm>
          <a:prstGeom prst="rect">
            <a:avLst/>
          </a:prstGeom>
          <a:noFill/>
        </p:spPr>
        <p:txBody>
          <a:bodyPr wrap="square" lIns="0" rIns="0" tIns="0" bIns="0" anchor="t">
            <a:spAutoFit/>
          </a:bodyPr>
          <a:lstStyle/>
          <a:p>
            <a:pPr algn="l">
              <a:lnSpc>
                <a:spcPct val="105000"/>
              </a:lnSpc>
              <a:spcAft>
                <a:spcPts val="0"/>
              </a:spcAft>
            </a:pPr>
            <a:r>
              <a:rPr sz="1300" b="0" i="0">
                <a:solidFill>
                  <a:srgbClr val="A8A8A8"/>
                </a:solidFill>
                <a:latin typeface="Poppins Light"/>
              </a:rPr>
              <a:t>mean AUC in an unseen city / a trained city</a:t>
            </a:r>
          </a:p>
        </p:txBody>
      </p:sp>
      <p:sp>
        <p:nvSpPr>
          <p:cNvPr id="12" name="TextBox 11"/>
          <p:cNvSpPr txBox="1"/>
          <p:nvPr/>
        </p:nvSpPr>
        <p:spPr>
          <a:xfrm>
            <a:off x="777240" y="5760720"/>
            <a:ext cx="7315200" cy="731520"/>
          </a:xfrm>
          <a:prstGeom prst="rect">
            <a:avLst/>
          </a:prstGeom>
          <a:noFill/>
        </p:spPr>
        <p:txBody>
          <a:bodyPr wrap="square" lIns="0" rIns="0" tIns="0" bIns="0" anchor="t">
            <a:spAutoFit/>
          </a:bodyPr>
          <a:lstStyle/>
          <a:p>
            <a:pPr algn="l">
              <a:lnSpc>
                <a:spcPct val="112000"/>
              </a:lnSpc>
              <a:spcAft>
                <a:spcPts val="0"/>
              </a:spcAft>
            </a:pPr>
            <a:r>
              <a:rPr sz="1400" b="0" i="0">
                <a:solidFill>
                  <a:srgbClr val="A8A8A8"/>
                </a:solidFill>
                <a:latin typeface="Poppins Light"/>
              </a:rPr>
              <a:t>Honest cost: 64% of hybrid alerts are false alarms. That suits a cheap hydrate-and-rest advisory, not school closures.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e_dim.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SHINY DASHBOARD: THE GAP IN ONE SCREEN</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board_risk_crop.png"/>
          <p:cNvPicPr>
            <a:picLocks noChangeAspect="1"/>
          </p:cNvPicPr>
          <p:nvPr/>
        </p:nvPicPr>
        <p:blipFill>
          <a:blip r:embed="rId4"/>
          <a:stretch>
            <a:fillRect/>
          </a:stretch>
        </p:blipFill>
        <p:spPr>
          <a:xfrm>
            <a:off x="777240" y="1554480"/>
            <a:ext cx="10607040" cy="3778758"/>
          </a:xfrm>
          <a:prstGeom prst="rect">
            <a:avLst/>
          </a:prstGeom>
          <a:ln w="12700">
            <a:solidFill>
              <a:srgbClr val="444444"/>
            </a:solidFill>
          </a:ln>
        </p:spPr>
      </p:pic>
      <p:sp>
        <p:nvSpPr>
          <p:cNvPr id="6" name="TextBox 5"/>
          <p:cNvSpPr txBox="1"/>
          <p:nvPr/>
        </p:nvSpPr>
        <p:spPr>
          <a:xfrm>
            <a:off x="777240" y="5504688"/>
            <a:ext cx="10607040" cy="365760"/>
          </a:xfrm>
          <a:prstGeom prst="rect">
            <a:avLst/>
          </a:prstGeom>
          <a:noFill/>
        </p:spPr>
        <p:txBody>
          <a:bodyPr wrap="square" lIns="0" rIns="0" tIns="0" bIns="0" anchor="t">
            <a:spAutoFit/>
          </a:bodyPr>
          <a:lstStyle/>
          <a:p>
            <a:pPr algn="l">
              <a:lnSpc>
                <a:spcPct val="112000"/>
              </a:lnSpc>
              <a:spcAft>
                <a:spcPts val="0"/>
              </a:spcAft>
            </a:pPr>
            <a:r>
              <a:rPr sz="1400" b="0" i="0">
                <a:solidFill>
                  <a:srgbClr val="F2F2F2"/>
                </a:solidFill>
                <a:latin typeface="Poppins Light"/>
              </a:rPr>
              <a:t>Risk calculator, Kolkata on 20 May: the IMD rule says NO ALERT, the wet-bulb (30.7 °C) says DANGER, and the model gives 99% for tomorrow.</a:t>
            </a:r>
          </a:p>
        </p:txBody>
      </p:sp>
      <p:sp>
        <p:nvSpPr>
          <p:cNvPr id="7" name="TextBox 6"/>
          <p:cNvSpPr txBox="1"/>
          <p:nvPr/>
        </p:nvSpPr>
        <p:spPr>
          <a:xfrm>
            <a:off x="777240" y="6199632"/>
            <a:ext cx="10607040" cy="365760"/>
          </a:xfrm>
          <a:prstGeom prst="rect">
            <a:avLst/>
          </a:prstGeom>
          <a:noFill/>
        </p:spPr>
        <p:txBody>
          <a:bodyPr wrap="square" lIns="0" rIns="0" tIns="0" bIns="0" anchor="t">
            <a:spAutoFit/>
          </a:bodyPr>
          <a:lstStyle/>
          <a:p>
            <a:pPr algn="l">
              <a:lnSpc>
                <a:spcPct val="112000"/>
              </a:lnSpc>
              <a:spcAft>
                <a:spcPts val="0"/>
              </a:spcAft>
            </a:pPr>
            <a:r>
              <a:rPr sz="1300" b="0" i="0">
                <a:solidFill>
                  <a:srgbClr val="A8A8A8"/>
                </a:solidFill>
                <a:latin typeface="Poppins Light"/>
              </a:rPr>
              <a:t>Rscript -e 'shiny::runApp("app")'  ·  5 tabs: blind spot, trends, extremes, risk calculator, about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c.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CONCLUSIONS &amp; RECOMMENDATIONS</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00200"/>
            <a:ext cx="822960" cy="411480"/>
          </a:xfrm>
          <a:prstGeom prst="rect">
            <a:avLst/>
          </a:prstGeom>
          <a:noFill/>
        </p:spPr>
        <p:txBody>
          <a:bodyPr wrap="square" lIns="0" rIns="0" tIns="0" bIns="0" anchor="t">
            <a:spAutoFit/>
          </a:bodyPr>
          <a:lstStyle/>
          <a:p>
            <a:pPr algn="l">
              <a:lnSpc>
                <a:spcPct val="112000"/>
              </a:lnSpc>
              <a:spcAft>
                <a:spcPts val="0"/>
              </a:spcAft>
            </a:pPr>
            <a:r>
              <a:rPr sz="1500" b="0" i="0">
                <a:solidFill>
                  <a:srgbClr val="E08A3C"/>
                </a:solidFill>
                <a:latin typeface="Poppins"/>
              </a:rPr>
              <a:t>RQ1</a:t>
            </a:r>
          </a:p>
        </p:txBody>
      </p:sp>
      <p:sp>
        <p:nvSpPr>
          <p:cNvPr id="6" name="TextBox 5"/>
          <p:cNvSpPr txBox="1"/>
          <p:nvPr/>
        </p:nvSpPr>
        <p:spPr>
          <a:xfrm>
            <a:off x="1600200" y="1600200"/>
            <a:ext cx="9692640" cy="411480"/>
          </a:xfrm>
          <a:prstGeom prst="rect">
            <a:avLst/>
          </a:prstGeom>
          <a:noFill/>
        </p:spPr>
        <p:txBody>
          <a:bodyPr wrap="square" lIns="0" rIns="0" tIns="0" bIns="0" anchor="t">
            <a:spAutoFit/>
          </a:bodyPr>
          <a:lstStyle/>
          <a:p>
            <a:pPr algn="l">
              <a:lnSpc>
                <a:spcPct val="112000"/>
              </a:lnSpc>
              <a:spcAft>
                <a:spcPts val="0"/>
              </a:spcAft>
            </a:pPr>
            <a:r>
              <a:rPr sz="1500" b="0" i="0">
                <a:solidFill>
                  <a:srgbClr val="F2F2F2"/>
                </a:solidFill>
                <a:latin typeface="Poppins Light"/>
              </a:rPr>
              <a:t>The IMD rule misses 96% of dangerous humid-heat days, in every city</a:t>
            </a:r>
          </a:p>
        </p:txBody>
      </p:sp>
      <p:sp>
        <p:nvSpPr>
          <p:cNvPr id="7" name="TextBox 6"/>
          <p:cNvSpPr txBox="1"/>
          <p:nvPr/>
        </p:nvSpPr>
        <p:spPr>
          <a:xfrm>
            <a:off x="777240" y="2057400"/>
            <a:ext cx="822960" cy="411480"/>
          </a:xfrm>
          <a:prstGeom prst="rect">
            <a:avLst/>
          </a:prstGeom>
          <a:noFill/>
        </p:spPr>
        <p:txBody>
          <a:bodyPr wrap="square" lIns="0" rIns="0" tIns="0" bIns="0" anchor="t">
            <a:spAutoFit/>
          </a:bodyPr>
          <a:lstStyle/>
          <a:p>
            <a:pPr algn="l">
              <a:lnSpc>
                <a:spcPct val="112000"/>
              </a:lnSpc>
              <a:spcAft>
                <a:spcPts val="0"/>
              </a:spcAft>
            </a:pPr>
            <a:r>
              <a:rPr sz="1500" b="0" i="0">
                <a:solidFill>
                  <a:srgbClr val="E08A3C"/>
                </a:solidFill>
                <a:latin typeface="Poppins"/>
              </a:rPr>
              <a:t>RQ2</a:t>
            </a:r>
          </a:p>
        </p:txBody>
      </p:sp>
      <p:sp>
        <p:nvSpPr>
          <p:cNvPr id="8" name="TextBox 7"/>
          <p:cNvSpPr txBox="1"/>
          <p:nvPr/>
        </p:nvSpPr>
        <p:spPr>
          <a:xfrm>
            <a:off x="1600200" y="2057400"/>
            <a:ext cx="9692640" cy="411480"/>
          </a:xfrm>
          <a:prstGeom prst="rect">
            <a:avLst/>
          </a:prstGeom>
          <a:noFill/>
        </p:spPr>
        <p:txBody>
          <a:bodyPr wrap="square" lIns="0" rIns="0" tIns="0" bIns="0" anchor="t">
            <a:spAutoFit/>
          </a:bodyPr>
          <a:lstStyle/>
          <a:p>
            <a:pPr algn="l">
              <a:lnSpc>
                <a:spcPct val="112000"/>
              </a:lnSpc>
              <a:spcAft>
                <a:spcPts val="0"/>
              </a:spcAft>
            </a:pPr>
            <a:r>
              <a:rPr sz="1500" b="0" i="0">
                <a:solidFill>
                  <a:srgbClr val="F2F2F2"/>
                </a:solidFill>
                <a:latin typeface="Poppins Light"/>
              </a:rPr>
              <a:t>Danger days grow ×1.54 per decade; Apr–Jun wet-bulb is up 0.53 °C</a:t>
            </a:r>
          </a:p>
        </p:txBody>
      </p:sp>
      <p:sp>
        <p:nvSpPr>
          <p:cNvPr id="9" name="TextBox 8"/>
          <p:cNvSpPr txBox="1"/>
          <p:nvPr/>
        </p:nvSpPr>
        <p:spPr>
          <a:xfrm>
            <a:off x="777240" y="2514600"/>
            <a:ext cx="822960" cy="411480"/>
          </a:xfrm>
          <a:prstGeom prst="rect">
            <a:avLst/>
          </a:prstGeom>
          <a:noFill/>
        </p:spPr>
        <p:txBody>
          <a:bodyPr wrap="square" lIns="0" rIns="0" tIns="0" bIns="0" anchor="t">
            <a:spAutoFit/>
          </a:bodyPr>
          <a:lstStyle/>
          <a:p>
            <a:pPr algn="l">
              <a:lnSpc>
                <a:spcPct val="112000"/>
              </a:lnSpc>
              <a:spcAft>
                <a:spcPts val="0"/>
              </a:spcAft>
            </a:pPr>
            <a:r>
              <a:rPr sz="1500" b="0" i="0">
                <a:solidFill>
                  <a:srgbClr val="E08A3C"/>
                </a:solidFill>
                <a:latin typeface="Poppins"/>
              </a:rPr>
              <a:t>RQ3</a:t>
            </a:r>
          </a:p>
        </p:txBody>
      </p:sp>
      <p:sp>
        <p:nvSpPr>
          <p:cNvPr id="10" name="TextBox 9"/>
          <p:cNvSpPr txBox="1"/>
          <p:nvPr/>
        </p:nvSpPr>
        <p:spPr>
          <a:xfrm>
            <a:off x="1600200" y="2514600"/>
            <a:ext cx="9692640" cy="411480"/>
          </a:xfrm>
          <a:prstGeom prst="rect">
            <a:avLst/>
          </a:prstGeom>
          <a:noFill/>
        </p:spPr>
        <p:txBody>
          <a:bodyPr wrap="square" lIns="0" rIns="0" tIns="0" bIns="0" anchor="t">
            <a:spAutoFit/>
          </a:bodyPr>
          <a:lstStyle/>
          <a:p>
            <a:pPr algn="l">
              <a:lnSpc>
                <a:spcPct val="112000"/>
              </a:lnSpc>
              <a:spcAft>
                <a:spcPts val="0"/>
              </a:spcAft>
            </a:pPr>
            <a:r>
              <a:rPr sz="1500" b="0" i="0">
                <a:solidFill>
                  <a:srgbClr val="F2F2F2"/>
                </a:solidFill>
                <a:latin typeface="Poppins Light"/>
              </a:rPr>
              <a:t>Tail shifting in 7/10 cities; Chennai's 1985 50-year extreme is now 1-in-2.6</a:t>
            </a:r>
          </a:p>
        </p:txBody>
      </p:sp>
      <p:sp>
        <p:nvSpPr>
          <p:cNvPr id="11" name="TextBox 10"/>
          <p:cNvSpPr txBox="1"/>
          <p:nvPr/>
        </p:nvSpPr>
        <p:spPr>
          <a:xfrm>
            <a:off x="777240" y="2971800"/>
            <a:ext cx="822960" cy="411480"/>
          </a:xfrm>
          <a:prstGeom prst="rect">
            <a:avLst/>
          </a:prstGeom>
          <a:noFill/>
        </p:spPr>
        <p:txBody>
          <a:bodyPr wrap="square" lIns="0" rIns="0" tIns="0" bIns="0" anchor="t">
            <a:spAutoFit/>
          </a:bodyPr>
          <a:lstStyle/>
          <a:p>
            <a:pPr algn="l">
              <a:lnSpc>
                <a:spcPct val="112000"/>
              </a:lnSpc>
              <a:spcAft>
                <a:spcPts val="0"/>
              </a:spcAft>
            </a:pPr>
            <a:r>
              <a:rPr sz="1500" b="0" i="0">
                <a:solidFill>
                  <a:srgbClr val="E08A3C"/>
                </a:solidFill>
                <a:latin typeface="Poppins"/>
              </a:rPr>
              <a:t>RQ4</a:t>
            </a:r>
          </a:p>
        </p:txBody>
      </p:sp>
      <p:sp>
        <p:nvSpPr>
          <p:cNvPr id="12" name="TextBox 11"/>
          <p:cNvSpPr txBox="1"/>
          <p:nvPr/>
        </p:nvSpPr>
        <p:spPr>
          <a:xfrm>
            <a:off x="1600200" y="2971800"/>
            <a:ext cx="9692640" cy="411480"/>
          </a:xfrm>
          <a:prstGeom prst="rect">
            <a:avLst/>
          </a:prstGeom>
          <a:noFill/>
        </p:spPr>
        <p:txBody>
          <a:bodyPr wrap="square" lIns="0" rIns="0" tIns="0" bIns="0" anchor="t">
            <a:spAutoFit/>
          </a:bodyPr>
          <a:lstStyle/>
          <a:p>
            <a:pPr algn="l">
              <a:lnSpc>
                <a:spcPct val="112000"/>
              </a:lnSpc>
              <a:spcAft>
                <a:spcPts val="0"/>
              </a:spcAft>
            </a:pPr>
            <a:r>
              <a:rPr sz="1500" b="0" i="0">
                <a:solidFill>
                  <a:srgbClr val="F2F2F2"/>
                </a:solidFill>
                <a:latin typeface="Poppins Light"/>
              </a:rPr>
              <a:t>Danger persists in spells; 3-day spells are now far more likely</a:t>
            </a:r>
          </a:p>
        </p:txBody>
      </p:sp>
      <p:sp>
        <p:nvSpPr>
          <p:cNvPr id="13" name="TextBox 12"/>
          <p:cNvSpPr txBox="1"/>
          <p:nvPr/>
        </p:nvSpPr>
        <p:spPr>
          <a:xfrm>
            <a:off x="777240" y="3429000"/>
            <a:ext cx="822960" cy="411480"/>
          </a:xfrm>
          <a:prstGeom prst="rect">
            <a:avLst/>
          </a:prstGeom>
          <a:noFill/>
        </p:spPr>
        <p:txBody>
          <a:bodyPr wrap="square" lIns="0" rIns="0" tIns="0" bIns="0" anchor="t">
            <a:spAutoFit/>
          </a:bodyPr>
          <a:lstStyle/>
          <a:p>
            <a:pPr algn="l">
              <a:lnSpc>
                <a:spcPct val="112000"/>
              </a:lnSpc>
              <a:spcAft>
                <a:spcPts val="0"/>
              </a:spcAft>
            </a:pPr>
            <a:r>
              <a:rPr sz="1500" b="0" i="0">
                <a:solidFill>
                  <a:srgbClr val="E08A3C"/>
                </a:solidFill>
                <a:latin typeface="Poppins"/>
              </a:rPr>
              <a:t>RQ5</a:t>
            </a:r>
          </a:p>
        </p:txBody>
      </p:sp>
      <p:sp>
        <p:nvSpPr>
          <p:cNvPr id="14" name="TextBox 13"/>
          <p:cNvSpPr txBox="1"/>
          <p:nvPr/>
        </p:nvSpPr>
        <p:spPr>
          <a:xfrm>
            <a:off x="1600200" y="3429000"/>
            <a:ext cx="9692640" cy="411480"/>
          </a:xfrm>
          <a:prstGeom prst="rect">
            <a:avLst/>
          </a:prstGeom>
          <a:noFill/>
        </p:spPr>
        <p:txBody>
          <a:bodyPr wrap="square" lIns="0" rIns="0" tIns="0" bIns="0" anchor="t">
            <a:spAutoFit/>
          </a:bodyPr>
          <a:lstStyle/>
          <a:p>
            <a:pPr algn="l">
              <a:lnSpc>
                <a:spcPct val="112000"/>
              </a:lnSpc>
              <a:spcAft>
                <a:spcPts val="0"/>
              </a:spcAft>
            </a:pPr>
            <a:r>
              <a:rPr sz="1500" b="0" i="0">
                <a:solidFill>
                  <a:srgbClr val="F2F2F2"/>
                </a:solidFill>
                <a:latin typeface="Poppins Light"/>
              </a:rPr>
              <a:t>A logistic warning reaches AUC 0.92 vs 0.61, and is calibrated</a:t>
            </a:r>
          </a:p>
        </p:txBody>
      </p:sp>
      <p:sp>
        <p:nvSpPr>
          <p:cNvPr id="15" name="TextBox 14"/>
          <p:cNvSpPr txBox="1"/>
          <p:nvPr/>
        </p:nvSpPr>
        <p:spPr>
          <a:xfrm>
            <a:off x="777240" y="3886200"/>
            <a:ext cx="822960" cy="411480"/>
          </a:xfrm>
          <a:prstGeom prst="rect">
            <a:avLst/>
          </a:prstGeom>
          <a:noFill/>
        </p:spPr>
        <p:txBody>
          <a:bodyPr wrap="square" lIns="0" rIns="0" tIns="0" bIns="0" anchor="t">
            <a:spAutoFit/>
          </a:bodyPr>
          <a:lstStyle/>
          <a:p>
            <a:pPr algn="l">
              <a:lnSpc>
                <a:spcPct val="112000"/>
              </a:lnSpc>
              <a:spcAft>
                <a:spcPts val="0"/>
              </a:spcAft>
            </a:pPr>
            <a:r>
              <a:rPr sz="1500" b="0" i="0">
                <a:solidFill>
                  <a:srgbClr val="E08A3C"/>
                </a:solidFill>
                <a:latin typeface="Poppins"/>
              </a:rPr>
              <a:t>RQ6</a:t>
            </a:r>
          </a:p>
        </p:txBody>
      </p:sp>
      <p:sp>
        <p:nvSpPr>
          <p:cNvPr id="16" name="TextBox 15"/>
          <p:cNvSpPr txBox="1"/>
          <p:nvPr/>
        </p:nvSpPr>
        <p:spPr>
          <a:xfrm>
            <a:off x="1600200" y="3886200"/>
            <a:ext cx="9692640" cy="411480"/>
          </a:xfrm>
          <a:prstGeom prst="rect">
            <a:avLst/>
          </a:prstGeom>
          <a:noFill/>
        </p:spPr>
        <p:txBody>
          <a:bodyPr wrap="square" lIns="0" rIns="0" tIns="0" bIns="0" anchor="t">
            <a:spAutoFit/>
          </a:bodyPr>
          <a:lstStyle/>
          <a:p>
            <a:pPr algn="l">
              <a:lnSpc>
                <a:spcPct val="112000"/>
              </a:lnSpc>
              <a:spcAft>
                <a:spcPts val="0"/>
              </a:spcAft>
            </a:pPr>
            <a:r>
              <a:rPr sz="1500" b="0" i="0">
                <a:solidFill>
                  <a:srgbClr val="F2F2F2"/>
                </a:solidFill>
                <a:latin typeface="Poppins Light"/>
              </a:rPr>
              <a:t>A random forest reaches AUC 0.95, recovers 45% of the blind spot, and transfers to unseen cities</a:t>
            </a:r>
          </a:p>
        </p:txBody>
      </p:sp>
      <p:cxnSp>
        <p:nvCxnSpPr>
          <p:cNvPr id="17" name="Arrow bullet"/>
          <p:cNvCxnSpPr/>
          <p:nvPr/>
        </p:nvCxnSpPr>
        <p:spPr>
          <a:xfrm flipV="1">
            <a:off x="777240" y="4603496"/>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24712" y="4526280"/>
            <a:ext cx="10442448" cy="548640"/>
          </a:xfrm>
          <a:prstGeom prst="rect">
            <a:avLst/>
          </a:prstGeom>
          <a:noFill/>
        </p:spPr>
        <p:txBody>
          <a:bodyPr wrap="square" lIns="0" rIns="0" tIns="0" bIns="0" anchor="t">
            <a:spAutoFit/>
          </a:bodyPr>
          <a:lstStyle/>
          <a:p>
            <a:pPr algn="l">
              <a:lnSpc>
                <a:spcPct val="105000"/>
              </a:lnSpc>
              <a:spcAft>
                <a:spcPts val="0"/>
              </a:spcAft>
            </a:pPr>
            <a:r>
              <a:rPr sz="1600" b="0" i="0">
                <a:solidFill>
                  <a:srgbClr val="F2F2F2"/>
                </a:solidFill>
                <a:latin typeface="Poppins Light"/>
              </a:rPr>
              <a:t>Add a humidity-aware trigger (wet-bulb or Heat Index) to heatwave declarations</a:t>
            </a:r>
          </a:p>
        </p:txBody>
      </p:sp>
      <p:cxnSp>
        <p:nvCxnSpPr>
          <p:cNvPr id="19" name="Arrow bullet"/>
          <p:cNvCxnSpPr/>
          <p:nvPr/>
        </p:nvCxnSpPr>
        <p:spPr>
          <a:xfrm flipV="1">
            <a:off x="777240" y="5152136"/>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124712" y="5074920"/>
            <a:ext cx="10442448" cy="548640"/>
          </a:xfrm>
          <a:prstGeom prst="rect">
            <a:avLst/>
          </a:prstGeom>
          <a:noFill/>
        </p:spPr>
        <p:txBody>
          <a:bodyPr wrap="square" lIns="0" rIns="0" tIns="0" bIns="0" anchor="t">
            <a:spAutoFit/>
          </a:bodyPr>
          <a:lstStyle/>
          <a:p>
            <a:pPr algn="l">
              <a:lnSpc>
                <a:spcPct val="105000"/>
              </a:lnSpc>
              <a:spcAft>
                <a:spcPts val="0"/>
              </a:spcAft>
            </a:pPr>
            <a:r>
              <a:rPr sz="1600" b="0" i="0">
                <a:solidFill>
                  <a:srgbClr val="F2F2F2"/>
                </a:solidFill>
                <a:latin typeface="Poppins Light"/>
              </a:rPr>
              <a:t>Replace fixed national cut-offs with local, probabilistic thresholds and return periods</a:t>
            </a:r>
          </a:p>
        </p:txBody>
      </p:sp>
      <p:cxnSp>
        <p:nvCxnSpPr>
          <p:cNvPr id="21" name="Arrow bullet"/>
          <p:cNvCxnSpPr/>
          <p:nvPr/>
        </p:nvCxnSpPr>
        <p:spPr>
          <a:xfrm flipV="1">
            <a:off x="777240" y="5700776"/>
            <a:ext cx="155448" cy="155448"/>
          </a:xfrm>
          <a:prstGeom prst="line">
            <a:avLst/>
          </a:prstGeom>
          <a:ln w="20320">
            <a:solidFill>
              <a:srgbClr val="E3F04F"/>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124712" y="5623560"/>
            <a:ext cx="10442448" cy="548640"/>
          </a:xfrm>
          <a:prstGeom prst="rect">
            <a:avLst/>
          </a:prstGeom>
          <a:noFill/>
        </p:spPr>
        <p:txBody>
          <a:bodyPr wrap="square" lIns="0" rIns="0" tIns="0" bIns="0" anchor="t">
            <a:spAutoFit/>
          </a:bodyPr>
          <a:lstStyle/>
          <a:p>
            <a:pPr algn="l">
              <a:lnSpc>
                <a:spcPct val="105000"/>
              </a:lnSpc>
              <a:spcAft>
                <a:spcPts val="0"/>
              </a:spcAft>
            </a:pPr>
            <a:r>
              <a:rPr sz="1600" b="0" i="0">
                <a:solidFill>
                  <a:srgbClr val="F2F2F2"/>
                </a:solidFill>
                <a:latin typeface="Poppins Light"/>
              </a:rPr>
              <a:t>Prioritise Kolkata, Bhubaneswar, Visakhapatnam and Chennai, where silent days dominate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d.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LIMITATIONS &amp; FUTURE WORK</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91640"/>
            <a:ext cx="5120640" cy="4572000"/>
          </a:xfrm>
          <a:prstGeom prst="rect">
            <a:avLst/>
          </a:prstGeom>
          <a:noFill/>
        </p:spPr>
        <p:txBody>
          <a:bodyPr wrap="square" lIns="0" rIns="0" tIns="0" bIns="0" anchor="t">
            <a:spAutoFit/>
          </a:bodyPr>
          <a:lstStyle/>
          <a:p>
            <a:pPr algn="l">
              <a:lnSpc>
                <a:spcPct val="112000"/>
              </a:lnSpc>
              <a:spcAft>
                <a:spcPts val="900"/>
              </a:spcAft>
            </a:pPr>
            <a:r>
              <a:rPr sz="1400" b="0" i="0">
                <a:solidFill>
                  <a:srgbClr val="E08A3C"/>
                </a:solidFill>
                <a:latin typeface="Poppins"/>
              </a:rPr>
              <a:t>Limitations</a:t>
            </a:r>
          </a:p>
          <a:p>
            <a:pPr algn="l">
              <a:lnSpc>
                <a:spcPct val="112000"/>
              </a:lnSpc>
              <a:spcAft>
                <a:spcPts val="900"/>
              </a:spcAft>
            </a:pPr>
            <a:r>
              <a:rPr sz="1400" b="0" i="0">
                <a:solidFill>
                  <a:srgbClr val="F2F2F2"/>
                </a:solidFill>
                <a:latin typeface="Poppins Light"/>
              </a:rPr>
              <a:t>ERA5's 0.25° grid smooths peaks: only 2 grid-days reached 31 °C; Mumbai's cell is sea-moderated</a:t>
            </a:r>
          </a:p>
          <a:p>
            <a:pPr algn="l">
              <a:lnSpc>
                <a:spcPct val="112000"/>
              </a:lnSpc>
              <a:spcAft>
                <a:spcPts val="900"/>
              </a:spcAft>
            </a:pPr>
            <a:r>
              <a:rPr sz="1400" b="0" i="0">
                <a:solidFill>
                  <a:srgbClr val="F2F2F2"/>
                </a:solidFill>
                <a:latin typeface="Poppins Light"/>
              </a:rPr>
              <a:t>One grid cell stands in for IMD's two stations, which flatters IMD, so our miss rates are lower bounds</a:t>
            </a:r>
          </a:p>
          <a:p>
            <a:pPr algn="l">
              <a:lnSpc>
                <a:spcPct val="112000"/>
              </a:lnSpc>
              <a:spcAft>
                <a:spcPts val="900"/>
              </a:spcAft>
            </a:pPr>
            <a:r>
              <a:rPr sz="1400" b="0" i="0">
                <a:solidFill>
                  <a:srgbClr val="F2F2F2"/>
                </a:solidFill>
                <a:latin typeface="Poppins Light"/>
              </a:rPr>
              <a:t>Thresholds come from young, healthy adults; older people and outdoor workers are at risk sooner</a:t>
            </a:r>
          </a:p>
          <a:p>
            <a:pPr algn="l">
              <a:lnSpc>
                <a:spcPct val="112000"/>
              </a:lnSpc>
              <a:spcAft>
                <a:spcPts val="900"/>
              </a:spcAft>
            </a:pPr>
            <a:r>
              <a:rPr sz="1400" b="0" i="0">
                <a:solidFill>
                  <a:srgbClr val="F2F2F2"/>
                </a:solidFill>
                <a:latin typeface="Poppins Light"/>
              </a:rPr>
              <a:t>Day-level tests are approximate under autocorrelation (mitigated with block bootstrap and Markov models)</a:t>
            </a:r>
          </a:p>
        </p:txBody>
      </p:sp>
      <p:sp>
        <p:nvSpPr>
          <p:cNvPr id="6" name="TextBox 5"/>
          <p:cNvSpPr txBox="1"/>
          <p:nvPr/>
        </p:nvSpPr>
        <p:spPr>
          <a:xfrm>
            <a:off x="6263640" y="1691640"/>
            <a:ext cx="5120640" cy="4572000"/>
          </a:xfrm>
          <a:prstGeom prst="rect">
            <a:avLst/>
          </a:prstGeom>
          <a:noFill/>
        </p:spPr>
        <p:txBody>
          <a:bodyPr wrap="square" lIns="0" rIns="0" tIns="0" bIns="0" anchor="t">
            <a:spAutoFit/>
          </a:bodyPr>
          <a:lstStyle/>
          <a:p>
            <a:pPr algn="l">
              <a:lnSpc>
                <a:spcPct val="112000"/>
              </a:lnSpc>
              <a:spcAft>
                <a:spcPts val="900"/>
              </a:spcAft>
            </a:pPr>
            <a:r>
              <a:rPr sz="1400" b="0" i="0">
                <a:solidFill>
                  <a:srgbClr val="E08A3C"/>
                </a:solidFill>
                <a:latin typeface="Poppins"/>
              </a:rPr>
              <a:t>Future work</a:t>
            </a:r>
          </a:p>
          <a:p>
            <a:pPr algn="l">
              <a:lnSpc>
                <a:spcPct val="112000"/>
              </a:lnSpc>
              <a:spcAft>
                <a:spcPts val="900"/>
              </a:spcAft>
            </a:pPr>
            <a:r>
              <a:rPr sz="1400" b="0" i="0">
                <a:solidFill>
                  <a:srgbClr val="F2F2F2"/>
                </a:solidFill>
                <a:latin typeface="Poppins Light"/>
              </a:rPr>
              <a:t>Repeat with IMD station observations and finer reanalysis (ERA5-Land, IMDAA)</a:t>
            </a:r>
          </a:p>
          <a:p>
            <a:pPr algn="l">
              <a:lnSpc>
                <a:spcPct val="112000"/>
              </a:lnSpc>
              <a:spcAft>
                <a:spcPts val="900"/>
              </a:spcAft>
            </a:pPr>
            <a:r>
              <a:rPr sz="1400" b="0" i="0">
                <a:solidFill>
                  <a:srgbClr val="F2F2F2"/>
                </a:solidFill>
                <a:latin typeface="Poppins Light"/>
              </a:rPr>
              <a:t>Link to hospital or mortality records to calibrate thresholds by age and occupation</a:t>
            </a:r>
          </a:p>
          <a:p>
            <a:pPr algn="l">
              <a:lnSpc>
                <a:spcPct val="112000"/>
              </a:lnSpc>
              <a:spcAft>
                <a:spcPts val="900"/>
              </a:spcAft>
            </a:pPr>
            <a:r>
              <a:rPr sz="1400" b="0" i="0">
                <a:solidFill>
                  <a:srgbClr val="F2F2F2"/>
                </a:solidFill>
                <a:latin typeface="Poppins Light"/>
              </a:rPr>
              <a:t>Extend to warm nights and multi-day cumulative heat load</a:t>
            </a:r>
          </a:p>
          <a:p>
            <a:pPr algn="l">
              <a:lnSpc>
                <a:spcPct val="112000"/>
              </a:lnSpc>
              <a:spcAft>
                <a:spcPts val="900"/>
              </a:spcAft>
            </a:pPr>
            <a:r>
              <a:rPr sz="1400" b="0" i="0">
                <a:solidFill>
                  <a:srgbClr val="F2F2F2"/>
                </a:solidFill>
                <a:latin typeface="Poppins Light"/>
              </a:rPr>
              <a:t>Operational district-level forecasts using weather-model inputs instead of today's observations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_d.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777240" y="502920"/>
            <a:ext cx="10607040" cy="685800"/>
          </a:xfrm>
          <a:prstGeom prst="rect">
            <a:avLst/>
          </a:prstGeom>
          <a:noFill/>
        </p:spPr>
        <p:txBody>
          <a:bodyPr wrap="square" lIns="0" rIns="0" tIns="0" bIns="0" anchor="b">
            <a:spAutoFit/>
          </a:bodyPr>
          <a:lstStyle/>
          <a:p>
            <a:pPr algn="l">
              <a:lnSpc>
                <a:spcPct val="112000"/>
              </a:lnSpc>
              <a:spcAft>
                <a:spcPts val="0"/>
              </a:spcAft>
            </a:pPr>
            <a:r>
              <a:rPr sz="3400" b="0" i="0">
                <a:solidFill>
                  <a:srgbClr val="F2F2F2"/>
                </a:solidFill>
                <a:latin typeface="Poppins Light"/>
              </a:rPr>
              <a:t>REFERENCES</a:t>
            </a:r>
          </a:p>
        </p:txBody>
      </p:sp>
      <p:sp>
        <p:nvSpPr>
          <p:cNvPr id="4" name="Title dash"/>
          <p:cNvSpPr/>
          <p:nvPr/>
        </p:nvSpPr>
        <p:spPr>
          <a:xfrm>
            <a:off x="777240" y="1344168"/>
            <a:ext cx="384048" cy="27432"/>
          </a:xfrm>
          <a:prstGeom prst="rect">
            <a:avLst/>
          </a:prstGeom>
          <a:solidFill>
            <a:srgbClr val="D2B9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00200"/>
            <a:ext cx="10789920" cy="4937760"/>
          </a:xfrm>
          <a:prstGeom prst="rect">
            <a:avLst/>
          </a:prstGeom>
          <a:noFill/>
        </p:spPr>
        <p:txBody>
          <a:bodyPr wrap="square" lIns="0" rIns="0" tIns="0" bIns="0" anchor="t">
            <a:spAutoFit/>
          </a:bodyPr>
          <a:lstStyle/>
          <a:p>
            <a:pPr algn="l">
              <a:lnSpc>
                <a:spcPct val="108000"/>
              </a:lnSpc>
              <a:spcAft>
                <a:spcPts val="900"/>
              </a:spcAft>
            </a:pPr>
            <a:r>
              <a:rPr sz="1350" b="0" i="0">
                <a:solidFill>
                  <a:srgbClr val="F2F2F2"/>
                </a:solidFill>
                <a:latin typeface="Poppins Light"/>
              </a:rPr>
              <a:t>India Meteorological Department. Criteria for heat wave; experimental Heat Index guidance.</a:t>
            </a:r>
          </a:p>
          <a:p>
            <a:pPr algn="l">
              <a:lnSpc>
                <a:spcPct val="108000"/>
              </a:lnSpc>
              <a:spcAft>
                <a:spcPts val="900"/>
              </a:spcAft>
            </a:pPr>
            <a:r>
              <a:rPr sz="1350" b="0" i="0">
                <a:solidFill>
                  <a:srgbClr val="F2F2F2"/>
                </a:solidFill>
                <a:latin typeface="Poppins Light"/>
              </a:rPr>
              <a:t>Pillai, A. V. &amp; Dalmia, T. (2023). How is India adapting to heatwaves? An assessment of heat action plans. Centre for Policy Research.</a:t>
            </a:r>
          </a:p>
          <a:p>
            <a:pPr algn="l">
              <a:lnSpc>
                <a:spcPct val="108000"/>
              </a:lnSpc>
              <a:spcAft>
                <a:spcPts val="900"/>
              </a:spcAft>
            </a:pPr>
            <a:r>
              <a:rPr sz="1350" b="0" i="0">
                <a:solidFill>
                  <a:srgbClr val="F2F2F2"/>
                </a:solidFill>
                <a:latin typeface="Poppins Light"/>
              </a:rPr>
              <a:t>Vecellio, D. J. et al. (2022). Evaluating the 35 °C wet-bulb temperature adaptability threshold for young, healthy subjects. J. Appl. Physiol. 132(2).</a:t>
            </a:r>
          </a:p>
          <a:p>
            <a:pPr algn="l">
              <a:lnSpc>
                <a:spcPct val="108000"/>
              </a:lnSpc>
              <a:spcAft>
                <a:spcPts val="900"/>
              </a:spcAft>
            </a:pPr>
            <a:r>
              <a:rPr sz="1350" b="0" i="0">
                <a:solidFill>
                  <a:srgbClr val="F2F2F2"/>
                </a:solidFill>
                <a:latin typeface="Poppins Light"/>
              </a:rPr>
              <a:t>Raymond, C., Matthews, T. &amp; Horton, R. M. (2020). The emergence of heat and humidity too severe for human tolerance. Science Advances 6(19).</a:t>
            </a:r>
          </a:p>
          <a:p>
            <a:pPr algn="l">
              <a:lnSpc>
                <a:spcPct val="108000"/>
              </a:lnSpc>
              <a:spcAft>
                <a:spcPts val="900"/>
              </a:spcAft>
            </a:pPr>
            <a:r>
              <a:rPr sz="1350" b="0" i="0">
                <a:solidFill>
                  <a:srgbClr val="F2F2F2"/>
                </a:solidFill>
                <a:latin typeface="Poppins Light"/>
              </a:rPr>
              <a:t>Stull, R. (2011). Wet-bulb temperature from relative humidity and air temperature. J. Appl. Meteor. Climatol. 50.</a:t>
            </a:r>
          </a:p>
          <a:p>
            <a:pPr algn="l">
              <a:lnSpc>
                <a:spcPct val="108000"/>
              </a:lnSpc>
              <a:spcAft>
                <a:spcPts val="900"/>
              </a:spcAft>
            </a:pPr>
            <a:r>
              <a:rPr sz="1350" b="0" i="0">
                <a:solidFill>
                  <a:srgbClr val="F2F2F2"/>
                </a:solidFill>
                <a:latin typeface="Poppins Light"/>
              </a:rPr>
              <a:t>Coles, S. (2001). An Introduction to Statistical Modeling of Extreme Values. Springer.</a:t>
            </a:r>
          </a:p>
          <a:p>
            <a:pPr algn="l">
              <a:lnSpc>
                <a:spcPct val="108000"/>
              </a:lnSpc>
              <a:spcAft>
                <a:spcPts val="900"/>
              </a:spcAft>
            </a:pPr>
            <a:r>
              <a:rPr sz="1350" b="0" i="0">
                <a:solidFill>
                  <a:srgbClr val="F2F2F2"/>
                </a:solidFill>
                <a:latin typeface="Poppins Light"/>
              </a:rPr>
              <a:t>Hersbach, H. et al. (2020). The ERA5 global reanalysis. QJRMS 146; accessed via Open-Meteo (CC BY 4.0).</a:t>
            </a:r>
          </a:p>
          <a:p>
            <a:pPr algn="l">
              <a:lnSpc>
                <a:spcPct val="108000"/>
              </a:lnSpc>
              <a:spcAft>
                <a:spcPts val="900"/>
              </a:spcAft>
            </a:pPr>
            <a:r>
              <a:rPr sz="1350" b="0" i="0">
                <a:solidFill>
                  <a:srgbClr val="F2F2F2"/>
                </a:solidFill>
                <a:latin typeface="Poppins Light"/>
              </a:rPr>
              <a:t>Mann (1945); Sen (1968); DeLong et al. (1988), comparing correlated ROC curves.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end.jpg"/>
          <p:cNvPicPr>
            <a:picLocks noChangeAspect="1"/>
          </p:cNvPicPr>
          <p:nvPr/>
        </p:nvPicPr>
        <p:blipFill>
          <a:blip r:embed="rId2"/>
          <a:stretch>
            <a:fillRect/>
          </a:stretch>
        </p:blipFill>
        <p:spPr>
          <a:xfrm>
            <a:off x="0" y="0"/>
            <a:ext cx="12191695" cy="6858000"/>
          </a:xfrm>
          <a:prstGeom prst="rect">
            <a:avLst/>
          </a:prstGeom>
        </p:spPr>
      </p:pic>
      <p:sp>
        <p:nvSpPr>
          <p:cNvPr id="3" name="Title"/>
          <p:cNvSpPr txBox="1"/>
          <p:nvPr/>
        </p:nvSpPr>
        <p:spPr>
          <a:xfrm>
            <a:off x="1371600" y="2651760"/>
            <a:ext cx="9445752" cy="1463040"/>
          </a:xfrm>
          <a:prstGeom prst="rect">
            <a:avLst/>
          </a:prstGeom>
          <a:noFill/>
        </p:spPr>
        <p:txBody>
          <a:bodyPr wrap="square" lIns="0" rIns="0" tIns="0" bIns="0" anchor="ctr">
            <a:spAutoFit/>
          </a:bodyPr>
          <a:lstStyle/>
          <a:p>
            <a:pPr algn="ctr">
              <a:lnSpc>
                <a:spcPct val="112000"/>
              </a:lnSpc>
              <a:spcAft>
                <a:spcPts val="0"/>
              </a:spcAft>
            </a:pPr>
            <a:r>
              <a:rPr sz="6400" b="0" i="0">
                <a:solidFill>
                  <a:srgbClr val="F2F2F2"/>
                </a:solidFill>
                <a:latin typeface="Poppins Ligh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40°C: the humid-heat blind spot in India's heatwave warnings</dc:title>
  <dc:subject/>
  <dc:creator>Arhaansh Jhingan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